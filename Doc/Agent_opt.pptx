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13ee2df6-293a-1f4f-74ab-ed59e71681d6}">
          <p14:sldIdLst>
            <p14:sldId id="256"/>
            <p14:sldId id="257"/>
            <p14:sldId id="258"/>
          </p14:sldIdLst>
        </p14:section>
        <p14:section name="Method" id="{ca54b699-1f33-5666-f90b-ac32e2745711}">
          <p14:sldIdLst>
            <p14:sldId id="259"/>
            <p14:sldId id="260"/>
          </p14:sldIdLst>
        </p14:section>
        <p14:section name="Status" id="{c9d762c3-03a3-f1fe-e407-28ff337af3b5}">
          <p14:sldIdLst>
            <p14:sldId id="261"/>
            <p14:sldId id="262"/>
          </p14:sldIdLst>
        </p14:section>
        <p14:section name="Next" id="{46672b19-bcee-e46c-55c6-7dbced7c59ee}">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reads its instructions (prefill)</c:v>
                </c:pt>
              </c:strCache>
            </c:strRef>
          </c:tx>
          <c:spPr>
            <a:solidFill>
              <a:srgbClr val="F2A3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Sheet1!$B$2:$B$12</c:f>
              <c:numCache>
                <c:formatCode>General</c:formatCode>
                <c:ptCount val="11"/>
                <c:pt idx="0">
                  <c:v>70.9</c:v>
                </c:pt>
                <c:pt idx="1">
                  <c:v>63.6</c:v>
                </c:pt>
                <c:pt idx="2">
                  <c:v>56.7</c:v>
                </c:pt>
                <c:pt idx="3">
                  <c:v>40</c:v>
                </c:pt>
                <c:pt idx="4">
                  <c:v>36.3</c:v>
                </c:pt>
                <c:pt idx="5">
                  <c:v>35.1</c:v>
                </c:pt>
                <c:pt idx="6">
                  <c:v>31.3</c:v>
                </c:pt>
                <c:pt idx="7">
                  <c:v>28</c:v>
                </c:pt>
                <c:pt idx="8">
                  <c:v>16.2</c:v>
                </c:pt>
                <c:pt idx="9">
                  <c:v>11.1</c:v>
                </c:pt>
                <c:pt idx="10">
                  <c:v>33.1</c:v>
                </c:pt>
              </c:numCache>
            </c:numRef>
          </c:val>
        </c:ser>
        <c:ser>
          <c:idx val="1"/>
          <c:order val="1"/>
          <c:tx>
            <c:strRef>
              <c:f>Sheet1!$C$1</c:f>
              <c:strCache>
                <c:ptCount val="1"/>
                <c:pt idx="0">
                  <c:v>Model writes the answer (decode)</c:v>
                </c:pt>
              </c:strCache>
            </c:strRef>
          </c:tx>
          <c:spPr>
            <a:solidFill>
              <a:srgbClr val="2FA8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Sheet1!$C$2:$C$12</c:f>
              <c:numCache>
                <c:formatCode>General</c:formatCode>
                <c:ptCount val="11"/>
                <c:pt idx="0">
                  <c:v>26.2</c:v>
                </c:pt>
                <c:pt idx="1">
                  <c:v>34.8</c:v>
                </c:pt>
                <c:pt idx="2">
                  <c:v>36.9</c:v>
                </c:pt>
                <c:pt idx="3">
                  <c:v>57.5</c:v>
                </c:pt>
                <c:pt idx="4">
                  <c:v>58.2</c:v>
                </c:pt>
                <c:pt idx="5">
                  <c:v>59</c:v>
                </c:pt>
                <c:pt idx="6">
                  <c:v>55.4</c:v>
                </c:pt>
                <c:pt idx="7">
                  <c:v>59.4</c:v>
                </c:pt>
                <c:pt idx="8">
                  <c:v>76.8</c:v>
                </c:pt>
                <c:pt idx="9">
                  <c:v>85.1</c:v>
                </c:pt>
                <c:pt idx="10">
                  <c:v>60.5</c:v>
                </c:pt>
              </c:numCache>
            </c:numRef>
          </c:val>
        </c:ser>
        <c:ser>
          <c:idx val="2"/>
          <c:order val="2"/>
          <c:tx>
            <c:strRef>
              <c:f>Sheet1!$D$1</c:f>
              <c:strCache>
                <c:ptCount val="1"/>
                <c:pt idx="0">
                  <c:v>Tools and overhead</c:v>
                </c:pt>
              </c:strCache>
            </c:strRef>
          </c:tx>
          <c:spPr>
            <a:solidFill>
              <a:srgbClr val="B4BEC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Sheet1!$D$2:$D$12</c:f>
              <c:numCache>
                <c:formatCode>General</c:formatCode>
                <c:ptCount val="11"/>
                <c:pt idx="0">
                  <c:v>3</c:v>
                </c:pt>
                <c:pt idx="1">
                  <c:v>1.5</c:v>
                </c:pt>
                <c:pt idx="2">
                  <c:v>6.4</c:v>
                </c:pt>
                <c:pt idx="3">
                  <c:v>2.5</c:v>
                </c:pt>
                <c:pt idx="4">
                  <c:v>5.5</c:v>
                </c:pt>
                <c:pt idx="5">
                  <c:v>5.9</c:v>
                </c:pt>
                <c:pt idx="6">
                  <c:v>13.2</c:v>
                </c:pt>
                <c:pt idx="7">
                  <c:v>12.6</c:v>
                </c:pt>
                <c:pt idx="8">
                  <c:v>7</c:v>
                </c:pt>
                <c:pt idx="9">
                  <c:v>3.9</c:v>
                </c:pt>
                <c:pt idx="10">
                  <c:v>6.3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1E6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B26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passed (of 10)</c:v>
                </c:pt>
              </c:strCache>
            </c:strRef>
          </c:tx>
          <c:spPr>
            <a:solidFill>
              <a:srgbClr val="3B6978"/>
            </a:solidFill>
            <a:effectLst/>
          </c:spPr>
          <c:invertIfNegative val="0"/>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cat>
            <c:multiLvlStrRef>
              <c:f>Sheet1!$A$2:$A$15</c:f>
              <c:multiLvlStrCache>
                <c:ptCount val="14"/>
                <c:lvl>
                  <c:pt idx="0">
                    <c:v>Moving average (bugfix)</c:v>
                  </c:pt>
                  <c:pt idx="1">
                    <c:v>Dir stats (code gen)</c:v>
                  </c:pt>
                  <c:pt idx="2">
                    <c:v>Confirm send (comms)</c:v>
                  </c:pt>
                  <c:pt idx="3">
                    <c:v>Tidal report (long ctx)</c:v>
                  </c:pt>
                  <c:pt idx="4">
                    <c:v>Scientific (reasoning)</c:v>
                  </c:pt>
                  <c:pt idx="5">
                    <c:v>Rename (refactor)</c:v>
                  </c:pt>
                  <c:pt idx="6">
                    <c:v>FizzBuzz (code gen)</c:v>
                  </c:pt>
                  <c:pt idx="7">
                    <c:v>Pool exhaustion (logs)</c:v>
                  </c:pt>
                  <c:pt idx="8">
                    <c:v>Compression (code gen)</c:v>
                  </c:pt>
                  <c:pt idx="9">
                    <c:v>sqrt (code review)</c:v>
                  </c:pt>
                  <c:pt idx="10">
                    <c:v>Retry policy (repo Q&amp;A)</c:v>
                  </c:pt>
                  <c:pt idx="11">
                    <c:v>Ring buffer (code gen)</c:v>
                  </c:pt>
                  <c:pt idx="12">
                    <c:v>Tax rates (reasoning)</c:v>
                  </c:pt>
                  <c:pt idx="13">
                    <c:v>Free will (research)</c:v>
                  </c:pt>
                </c:lvl>
              </c:multiLvlStrCache>
            </c:multiLvlStrRef>
          </c:cat>
          <c:val>
            <c:numRef>
              <c:f>Sheet1!$B$2:$B$15</c:f>
              <c:numCache>
                <c:formatCode>General</c:formatCode>
                <c:ptCount val="14"/>
                <c:pt idx="0">
                  <c:v>10</c:v>
                </c:pt>
                <c:pt idx="1">
                  <c:v>10</c:v>
                </c:pt>
                <c:pt idx="2">
                  <c:v>10</c:v>
                </c:pt>
                <c:pt idx="3">
                  <c:v>10</c:v>
                </c:pt>
                <c:pt idx="4">
                  <c:v>9</c:v>
                </c:pt>
                <c:pt idx="5">
                  <c:v>9</c:v>
                </c:pt>
                <c:pt idx="6">
                  <c:v>8</c:v>
                </c:pt>
                <c:pt idx="7">
                  <c:v>8</c:v>
                </c:pt>
                <c:pt idx="8">
                  <c:v>6</c:v>
                </c:pt>
                <c:pt idx="9">
                  <c:v>5</c:v>
                </c:pt>
                <c:pt idx="10">
                  <c:v>5</c:v>
                </c:pt>
                <c:pt idx="11">
                  <c:v>3</c:v>
                </c:pt>
                <c:pt idx="12">
                  <c:v>3</c:v>
                </c:pt>
                <c:pt idx="13">
                  <c:v>3</c:v>
                </c:pt>
              </c:numCache>
            </c:numRef>
          </c:val>
        </c:ser>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first four milestones built the measuring tools; the first full measurement run (168 runs) is done; the next steps use the tools for experiments. This deck explains why, how, where we are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 The full baseline confirmed it: only 4 of 14 tasks passed every time in 10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that part is finished and tested. The first full run (M4.1) is complete; the next steps compare settings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isolated baseline run, 14 tasks x 10 runs at the 32k setting, 140 measured runs. Left: share of wall-clock time; the model's reading of its instructions (prefill) dominates for long-context and reasoning tasks, writing the answer dominates for code generation. Right: runs passed per task; with 10 runs each, only the extremes are clearly different (the research task needs a larger memory window and passed 1 of 10). The earlier two-run pilot suggested 75 percent prefill; the first full run showed 54 percent, and after the leaked block was removed it is 33 percent, with writing the answer now the largest share (60 percent). The 42 percent speed-up is a median over all tasks, with a confidence range of 37 to 48 percent. About 40 percent of the saved time comes from the shorter prompt and the rest from the model reusing its already-processed prompt between runs; that second part depends on runs following each other. Instrumentation overhead check is still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three more working weeks of effort, with long unattended GPU runs in M4 and M5. M4 is the immediate next step and is highlighted. The experiments in M5 are the heart of the project: each lever is tested against the baseline with confidence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plan's success criteria in plain language. The rule behind 'proven to help': the confidence range of the improvement must exclude zero and success rate must not drop by more than 5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ask is machine time: the statistically sound version of the experiments needs long unattended runs. The other two decisions are scoping choices that keep the project inside its planned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for project management. Status: tooling built (M0 to M3), first full baseline measured (M4.1).</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18</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416</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336</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baseline runs recorded in two full passes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18 realistic tasks (4 added to be harder),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18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428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tooling built, first data in</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first run done</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20" name="Milestone M4"/>
          <p:cNvSpPr/>
          <p:nvPr/>
        </p:nvSpPr>
        <p:spPr>
          <a:xfrm>
            <a:off x="6469209" y="2331720"/>
            <a:ext cx="640080" cy="640080"/>
          </a:xfrm>
          <a:prstGeom prst="ellipse">
            <a:avLst/>
          </a:prstGeom>
          <a:solidFill>
            <a:schemeClr val="accent1"/>
          </a:solidFill>
          <a:ln/>
        </p:spPr>
      </p:sp>
      <p:sp>
        <p:nvSpPr>
          <p:cNvPr id="21" name="Milestone label M4"/>
          <p:cNvSpPr txBox="1"/>
          <p:nvPr/>
        </p:nvSpPr>
        <p:spPr>
          <a:xfrm>
            <a:off x="6469209" y="2331720"/>
            <a:ext cx="64008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M4</a:t>
            </a:r>
            <a:endParaRPr lang="en-US" sz="1400" dirty="0"/>
          </a:p>
        </p:txBody>
      </p:sp>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23" name="Milestone M5"/>
          <p:cNvSpPr/>
          <p:nvPr/>
        </p:nvSpPr>
        <p:spPr>
          <a:xfrm>
            <a:off x="7856010" y="2331720"/>
            <a:ext cx="640080" cy="640080"/>
          </a:xfrm>
          <a:prstGeom prst="ellipse">
            <a:avLst/>
          </a:prstGeom>
          <a:solidFill>
            <a:srgbClr val="FFFFFF"/>
          </a:solidFill>
          <a:ln w="25400">
            <a:solidFill>
              <a:srgbClr val="9AA7AF"/>
            </a:solidFill>
            <a:prstDash val="solid"/>
          </a:ln>
        </p:spPr>
      </p:sp>
      <p:sp>
        <p:nvSpPr>
          <p:cNvPr id="24" name="Milestone label M5"/>
          <p:cNvSpPr txBox="1"/>
          <p:nvPr/>
        </p:nvSpPr>
        <p:spPr>
          <a:xfrm>
            <a:off x="7856010"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M5</a:t>
            </a:r>
            <a:endParaRPr lang="en-US" sz="1400" dirty="0"/>
          </a:p>
        </p:txBody>
      </p:sp>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26" name="Milestone M6"/>
          <p:cNvSpPr/>
          <p:nvPr/>
        </p:nvSpPr>
        <p:spPr>
          <a:xfrm>
            <a:off x="9242812" y="2331720"/>
            <a:ext cx="640080" cy="640080"/>
          </a:xfrm>
          <a:prstGeom prst="ellipse">
            <a:avLst/>
          </a:prstGeom>
          <a:solidFill>
            <a:srgbClr val="FFFFFF"/>
          </a:solidFill>
          <a:ln w="25400">
            <a:solidFill>
              <a:srgbClr val="9AA7AF"/>
            </a:solidFill>
            <a:prstDash val="solid"/>
          </a:ln>
        </p:spPr>
      </p:sp>
      <p:sp>
        <p:nvSpPr>
          <p:cNvPr id="27" name="Milestone label M6"/>
          <p:cNvSpPr txBox="1"/>
          <p:nvPr/>
        </p:nvSpPr>
        <p:spPr>
          <a:xfrm>
            <a:off x="9242812"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M6</a:t>
            </a:r>
            <a:endParaRPr lang="en-US" sz="1400" dirty="0"/>
          </a:p>
        </p:txBody>
      </p:sp>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Milestone M4 done</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Baselines: 336 runs; removing a leaked prompt block made runs about 42% faster. 16k window: no overall loss, long contexts break. The GPU works only 12% of the time.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baseline shows</a:t>
            </a:r>
            <a:endParaRPr lang="en-US" sz="3400" dirty="0"/>
          </a:p>
        </p:txBody>
      </p:sp>
      <p:sp>
        <p:nvSpPr>
          <p:cNvPr id="3" name="Time chart title"/>
          <p:cNvSpPr txBox="1"/>
          <p:nvPr/>
        </p:nvSpPr>
        <p:spPr>
          <a:xfrm>
            <a:off x="548640"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Where the time goes, by task type</a:t>
            </a:r>
            <a:endParaRPr lang="en-US" sz="1600" dirty="0"/>
          </a:p>
        </p:txBody>
      </p:sp>
      <p:graphicFrame>
        <p:nvGraphicFramePr>
          <p:cNvPr id="4" name="Chart 0" descr=""/>
          <p:cNvGraphicFramePr/>
          <p:nvPr/>
        </p:nvGraphicFramePr>
        <p:xfrm>
          <a:off x="548640" y="1691640"/>
          <a:ext cx="5364328" cy="3429000"/>
        </p:xfrm>
        <a:graphic xmlns:a="http://schemas.openxmlformats.org/drawingml/2006/main">
          <a:graphicData uri="http://schemas.openxmlformats.org/drawingml/2006/chart">
            <c:chart xmlns:c="http://schemas.openxmlformats.org/drawingml/2006/chart" r:id="rId1"/>
          </a:graphicData>
        </a:graphic>
      </p:graphicFrame>
      <p:sp>
        <p:nvSpPr>
          <p:cNvPr id="5" name="Pass chart title"/>
          <p:cNvSpPr txBox="1"/>
          <p:nvPr/>
        </p:nvSpPr>
        <p:spPr>
          <a:xfrm>
            <a:off x="6278728"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Passed out of 10 runs, per task</a:t>
            </a:r>
            <a:endParaRPr lang="en-US" sz="1600" dirty="0"/>
          </a:p>
        </p:txBody>
      </p:sp>
      <p:graphicFrame>
        <p:nvGraphicFramePr>
          <p:cNvPr id="6" name="Chart 1" descr=""/>
          <p:cNvGraphicFramePr/>
          <p:nvPr/>
        </p:nvGraphicFramePr>
        <p:xfrm>
          <a:off x="6278728" y="169164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7" name="Stat card 1"/>
          <p:cNvSpPr/>
          <p:nvPr/>
        </p:nvSpPr>
        <p:spPr>
          <a:xfrm>
            <a:off x="548640" y="5257800"/>
            <a:ext cx="3515258" cy="1005840"/>
          </a:xfrm>
          <a:prstGeom prst="roundRect">
            <a:avLst>
              <a:gd name="adj" fmla="val 9091"/>
            </a:avLst>
          </a:prstGeom>
          <a:solidFill>
            <a:schemeClr val="bg2"/>
          </a:solidFill>
          <a:ln/>
        </p:spPr>
      </p:sp>
      <p:sp>
        <p:nvSpPr>
          <p:cNvPr id="8" name="Stat 1"/>
          <p:cNvSpPr txBox="1"/>
          <p:nvPr/>
        </p:nvSpPr>
        <p:spPr>
          <a:xfrm>
            <a:off x="731520"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42%</a:t>
            </a:r>
            <a:endParaRPr lang="en-US" sz="3200" dirty="0"/>
          </a:p>
        </p:txBody>
      </p:sp>
      <p:sp>
        <p:nvSpPr>
          <p:cNvPr id="9" name="Stat text 1"/>
          <p:cNvSpPr txBox="1"/>
          <p:nvPr/>
        </p:nvSpPr>
        <p:spPr>
          <a:xfrm>
            <a:off x="1965960"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faster per run once a block of personal setup was removed from the prompt. Success is unchanged within noise (71% vs 74%).</a:t>
            </a:r>
            <a:endParaRPr lang="en-US" sz="1200" dirty="0"/>
          </a:p>
        </p:txBody>
      </p:sp>
      <p:sp>
        <p:nvSpPr>
          <p:cNvPr id="10" name="Stat card 2"/>
          <p:cNvSpPr/>
          <p:nvPr/>
        </p:nvSpPr>
        <p:spPr>
          <a:xfrm>
            <a:off x="4338218" y="5257800"/>
            <a:ext cx="3515258" cy="1005840"/>
          </a:xfrm>
          <a:prstGeom prst="roundRect">
            <a:avLst>
              <a:gd name="adj" fmla="val 9091"/>
            </a:avLst>
          </a:prstGeom>
          <a:solidFill>
            <a:schemeClr val="bg2"/>
          </a:solidFill>
          <a:ln/>
        </p:spPr>
      </p:sp>
      <p:sp>
        <p:nvSpPr>
          <p:cNvPr id="11" name="Stat 2"/>
          <p:cNvSpPr txBox="1"/>
          <p:nvPr/>
        </p:nvSpPr>
        <p:spPr>
          <a:xfrm>
            <a:off x="4521098"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60%</a:t>
            </a:r>
            <a:endParaRPr lang="en-US" sz="3200" dirty="0"/>
          </a:p>
        </p:txBody>
      </p:sp>
      <p:sp>
        <p:nvSpPr>
          <p:cNvPr id="12" name="Stat text 2"/>
          <p:cNvSpPr txBox="1"/>
          <p:nvPr/>
        </p:nvSpPr>
        <p:spPr>
          <a:xfrm>
            <a:off x="5755538"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the model writing answers, yet the graphics card itself works only 12% of the time: the processor is the bottleneck.</a:t>
            </a:r>
            <a:endParaRPr lang="en-US" sz="1200" dirty="0"/>
          </a:p>
        </p:txBody>
      </p:sp>
      <p:sp>
        <p:nvSpPr>
          <p:cNvPr id="13" name="Stat card 3"/>
          <p:cNvSpPr/>
          <p:nvPr/>
        </p:nvSpPr>
        <p:spPr>
          <a:xfrm>
            <a:off x="8127797" y="5257800"/>
            <a:ext cx="3515258" cy="1005840"/>
          </a:xfrm>
          <a:prstGeom prst="roundRect">
            <a:avLst>
              <a:gd name="adj" fmla="val 9091"/>
            </a:avLst>
          </a:prstGeom>
          <a:solidFill>
            <a:schemeClr val="bg2"/>
          </a:solidFill>
          <a:ln/>
        </p:spPr>
      </p:sp>
      <p:sp>
        <p:nvSpPr>
          <p:cNvPr id="14" name="Stat 3"/>
          <p:cNvSpPr txBox="1"/>
          <p:nvPr/>
        </p:nvSpPr>
        <p:spPr>
          <a:xfrm>
            <a:off x="8310677"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71%</a:t>
            </a:r>
            <a:endParaRPr lang="en-US" sz="3200" dirty="0"/>
          </a:p>
        </p:txBody>
      </p:sp>
      <p:sp>
        <p:nvSpPr>
          <p:cNvPr id="15" name="Stat text 3"/>
          <p:cNvSpPr txBox="1"/>
          <p:nvPr/>
        </p:nvSpPr>
        <p:spPr>
          <a:xfrm>
            <a:off x="9545117"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runs passed overall (99 of 140). Only 4 of 14 tasks passed every time.</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happens next</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all measurements done</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16k vs 32k re-checked; GPU busy only 12% of the time</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 (done for 32k)</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7 to 8 days</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Memory size of the context window</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Shorter agent instructions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Faster answering (speculative decoding)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second model, task-specific agents</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4 to 5 days</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Automatic check of every cited study</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Measure invented citations before and after</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3 to 4 days</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Summary numbers for reuse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“done” looks like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18 × 10 × 6</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about 840 measured runs, all with confidence ranges</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At least 2 changes proven to help, and at least 1 clear negative result with its cause</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Invented-citation rate measured on 20 or more research questions, with and without the checker</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One chart answering: what share of an agent's time is the GPU generating text?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Measurement overhead shown to be under 5%</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ready to share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decisions we need</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Machine time</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repeats took about 4.3 hours for one setup; the full sweep is estimated at 25 hours of GPU time.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Too many easy tasks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Four of the first 14 tasks passed every time, so four harder ones were added; they pass 30 to 60% of runs.</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Decisions needed</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Approve overnight GPU time</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40 hours of unattended runs spread over several nights.</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Settle the sweep scope</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If time runs short, drop in this order: second model, flash attention, 8k context.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Handle the research task</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It passed only 1 of 10 runs at the baseline memory window and needs a larger one: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2026-10-24T06:45:17Z</dcterms:created>
  <dcterms:modified xsi:type="dcterms:W3CDTF">2026-10-24T06:45:17Z</dcterms:modified>
</cp:coreProperties>
</file>
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rpose" id="{ab67f6c6-29ea-25c3-4ae8-f81963c8de98}">
          <p14:sldIdLst>
            <p14:sldId id="256"/>
            <p14:sldId id="257"/>
            <p14:sldId id="258"/>
          </p14:sldIdLst>
        </p14:section>
        <p14:section name="Method" id="{0b219d35-1408-a97c-6546-964ac76afa82}">
          <p14:sldIdLst>
            <p14:sldId id="259"/>
            <p14:sldId id="260"/>
          </p14:sldIdLst>
        </p14:section>
        <p14:section name="Status" id="{da3b61c5-c3ee-c4a9-69d4-adf745785028}">
          <p14:sldIdLst>
            <p14:sldId id="261"/>
            <p14:sldId id="262"/>
          </p14:sldIdLst>
        </p14:section>
        <p14:section name="Next" id="{e346f83c-70a2-b0d7-182f-0c85ead21949}">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Model reads its instructions (prefill)</c:v>
                </c:pt>
              </c:strCache>
            </c:strRef>
          </c:tx>
          <c:spPr>
            <a:solidFill>
              <a:srgbClr val="F2A3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Long context</c:v>
                  </c:pt>
                  <c:pt idx="1">
                    <c:v>Log triage</c:v>
                  </c:pt>
                  <c:pt idx="2">
                    <c:v>Research</c:v>
                  </c:pt>
                  <c:pt idx="3">
                    <c:v>Refactor</c:v>
                  </c:pt>
                  <c:pt idx="4">
                    <c:v>Bug fix</c:v>
                  </c:pt>
                  <c:pt idx="5">
                    <c:v>Repo Q&amp;A</c:v>
                  </c:pt>
                  <c:pt idx="6">
                    <c:v>Email / calendar</c:v>
                  </c:pt>
                  <c:pt idx="7">
                    <c:v>Reasoning</c:v>
                  </c:pt>
                  <c:pt idx="8">
                    <c:v>Code generation</c:v>
                  </c:pt>
                  <c:pt idx="9">
                    <c:v>Code review</c:v>
                  </c:pt>
                  <c:pt idx="10">
                    <c:v>All tasks</c:v>
                  </c:pt>
                </c:lvl>
              </c:multiLvlStrCache>
            </c:multiLvlStrRef>
          </c:cat>
          <c:val>
            <c:numRef>
              <c:f>Sheet1!$B$2:$B$12</c:f>
              <c:numCache>
                <c:formatCode>General</c:formatCode>
                <c:ptCount val="11"/>
                <c:pt idx="0">
                  <c:v>70.9</c:v>
                </c:pt>
                <c:pt idx="1">
                  <c:v>63.6</c:v>
                </c:pt>
                <c:pt idx="2">
                  <c:v>56.7</c:v>
                </c:pt>
                <c:pt idx="3">
                  <c:v>40</c:v>
                </c:pt>
                <c:pt idx="4">
                  <c:v>36.3</c:v>
                </c:pt>
                <c:pt idx="5">
                  <c:v>35.1</c:v>
                </c:pt>
                <c:pt idx="6">
                  <c:v>31.3</c:v>
                </c:pt>
                <c:pt idx="7">
                  <c:v>28</c:v>
                </c:pt>
                <c:pt idx="8">
                  <c:v>16.2</c:v>
                </c:pt>
                <c:pt idx="9">
                  <c:v>11.1</c:v>
                </c:pt>
                <c:pt idx="10">
                  <c:v>33.1</c:v>
                </c:pt>
              </c:numCache>
            </c:numRef>
          </c:val>
        </c:ser>
        <c:ser>
          <c:idx val="1"/>
          <c:order val="1"/>
          <c:tx>
            <c:strRef>
              <c:f>Sheet1!$C$1</c:f>
              <c:strCache>
                <c:ptCount val="1"/>
                <c:pt idx="0">
                  <c:v>Model writes the answer (decode)</c:v>
                </c:pt>
              </c:strCache>
            </c:strRef>
          </c:tx>
          <c:spPr>
            <a:solidFill>
              <a:srgbClr val="2FA8A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Long context</c:v>
                  </c:pt>
                  <c:pt idx="1">
                    <c:v>Log triage</c:v>
                  </c:pt>
                  <c:pt idx="2">
                    <c:v>Research</c:v>
                  </c:pt>
                  <c:pt idx="3">
                    <c:v>Refactor</c:v>
                  </c:pt>
                  <c:pt idx="4">
                    <c:v>Bug fix</c:v>
                  </c:pt>
                  <c:pt idx="5">
                    <c:v>Repo Q&amp;A</c:v>
                  </c:pt>
                  <c:pt idx="6">
                    <c:v>Email / calendar</c:v>
                  </c:pt>
                  <c:pt idx="7">
                    <c:v>Reasoning</c:v>
                  </c:pt>
                  <c:pt idx="8">
                    <c:v>Code generation</c:v>
                  </c:pt>
                  <c:pt idx="9">
                    <c:v>Code review</c:v>
                  </c:pt>
                  <c:pt idx="10">
                    <c:v>All tasks</c:v>
                  </c:pt>
                </c:lvl>
              </c:multiLvlStrCache>
            </c:multiLvlStrRef>
          </c:cat>
          <c:val>
            <c:numRef>
              <c:f>Sheet1!$C$2:$C$12</c:f>
              <c:numCache>
                <c:formatCode>General</c:formatCode>
                <c:ptCount val="11"/>
                <c:pt idx="0">
                  <c:v>26.2</c:v>
                </c:pt>
                <c:pt idx="1">
                  <c:v>34.8</c:v>
                </c:pt>
                <c:pt idx="2">
                  <c:v>36.9</c:v>
                </c:pt>
                <c:pt idx="3">
                  <c:v>57.5</c:v>
                </c:pt>
                <c:pt idx="4">
                  <c:v>58.2</c:v>
                </c:pt>
                <c:pt idx="5">
                  <c:v>59</c:v>
                </c:pt>
                <c:pt idx="6">
                  <c:v>55.4</c:v>
                </c:pt>
                <c:pt idx="7">
                  <c:v>59.4</c:v>
                </c:pt>
                <c:pt idx="8">
                  <c:v>76.8</c:v>
                </c:pt>
                <c:pt idx="9">
                  <c:v>85.1</c:v>
                </c:pt>
                <c:pt idx="10">
                  <c:v>60.5</c:v>
                </c:pt>
              </c:numCache>
            </c:numRef>
          </c:val>
        </c:ser>
        <c:ser>
          <c:idx val="2"/>
          <c:order val="2"/>
          <c:tx>
            <c:strRef>
              <c:f>Sheet1!$D$1</c:f>
              <c:strCache>
                <c:ptCount val="1"/>
                <c:pt idx="0">
                  <c:v>Tools and overhead</c:v>
                </c:pt>
              </c:strCache>
            </c:strRef>
          </c:tx>
          <c:spPr>
            <a:solidFill>
              <a:srgbClr val="B4BEC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Long context</c:v>
                  </c:pt>
                  <c:pt idx="1">
                    <c:v>Log triage</c:v>
                  </c:pt>
                  <c:pt idx="2">
                    <c:v>Research</c:v>
                  </c:pt>
                  <c:pt idx="3">
                    <c:v>Refactor</c:v>
                  </c:pt>
                  <c:pt idx="4">
                    <c:v>Bug fix</c:v>
                  </c:pt>
                  <c:pt idx="5">
                    <c:v>Repo Q&amp;A</c:v>
                  </c:pt>
                  <c:pt idx="6">
                    <c:v>Email / calendar</c:v>
                  </c:pt>
                  <c:pt idx="7">
                    <c:v>Reasoning</c:v>
                  </c:pt>
                  <c:pt idx="8">
                    <c:v>Code generation</c:v>
                  </c:pt>
                  <c:pt idx="9">
                    <c:v>Code review</c:v>
                  </c:pt>
                  <c:pt idx="10">
                    <c:v>All tasks</c:v>
                  </c:pt>
                </c:lvl>
              </c:multiLvlStrCache>
            </c:multiLvlStrRef>
          </c:cat>
          <c:val>
            <c:numRef>
              <c:f>Sheet1!$D$2:$D$12</c:f>
              <c:numCache>
                <c:formatCode>General</c:formatCode>
                <c:ptCount val="11"/>
                <c:pt idx="0">
                  <c:v>3</c:v>
                </c:pt>
                <c:pt idx="1">
                  <c:v>1.5</c:v>
                </c:pt>
                <c:pt idx="2">
                  <c:v>6.4</c:v>
                </c:pt>
                <c:pt idx="3">
                  <c:v>2.5</c:v>
                </c:pt>
                <c:pt idx="4">
                  <c:v>5.5</c:v>
                </c:pt>
                <c:pt idx="5">
                  <c:v>5.9</c:v>
                </c:pt>
                <c:pt idx="6">
                  <c:v>13.2</c:v>
                </c:pt>
                <c:pt idx="7">
                  <c:v>12.6</c:v>
                </c:pt>
                <c:pt idx="8">
                  <c:v>7</c:v>
                </c:pt>
                <c:pt idx="9">
                  <c:v>3.9</c:v>
                </c:pt>
                <c:pt idx="10">
                  <c:v>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62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1E6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B26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Runs passed (of 10)</c:v>
                </c:pt>
              </c:strCache>
            </c:strRef>
          </c:tx>
          <c:spPr>
            <a:solidFill>
              <a:srgbClr val="3B6978"/>
            </a:solidFill>
            <a:effectLst/>
          </c:spPr>
          <c:invertIfNegative val="0"/>
          <c:dLbls>
            <c:numFmt formatCode="0" sourceLinked="0"/>
            <c:txPr>
              <a:bodyPr/>
              <a:lstStyle/>
              <a:p>
                <a:pPr>
                  <a:defRPr b="1" i="0" strike="noStrike" sz="1100" u="none">
                    <a:solidFill>
                      <a:srgbClr val="1B262C"/>
                    </a:solidFill>
                    <a:latin typeface="+mn-lt"/>
                  </a:defRPr>
                </a:pPr>
              </a:p>
            </c:txPr>
            <c:showLegendKey val="0"/>
            <c:showVal val="1"/>
            <c:showCatName val="0"/>
            <c:showSerName val="0"/>
            <c:showPercent val="0"/>
            <c:showBubbleSize val="0"/>
            <c:showLeaderLines val="0"/>
          </c:dLbls>
          <c:cat>
            <c:multiLvlStrRef>
              <c:f>Sheet1!$A$2:$A$15</c:f>
              <c:multiLvlStrCache>
                <c:ptCount val="14"/>
                <c:lvl>
                  <c:pt idx="0">
                    <c:v>Moving average (bugfix)</c:v>
                  </c:pt>
                  <c:pt idx="1">
                    <c:v>Dir stats (code gen)</c:v>
                  </c:pt>
                  <c:pt idx="2">
                    <c:v>Confirm send (comms)</c:v>
                  </c:pt>
                  <c:pt idx="3">
                    <c:v>Tidal report (long ctx)</c:v>
                  </c:pt>
                  <c:pt idx="4">
                    <c:v>Scientific (reasoning)</c:v>
                  </c:pt>
                  <c:pt idx="5">
                    <c:v>Rename (refactor)</c:v>
                  </c:pt>
                  <c:pt idx="6">
                    <c:v>FizzBuzz (code gen)</c:v>
                  </c:pt>
                  <c:pt idx="7">
                    <c:v>Pool exhaustion (logs)</c:v>
                  </c:pt>
                  <c:pt idx="8">
                    <c:v>Compression (code gen)</c:v>
                  </c:pt>
                  <c:pt idx="9">
                    <c:v>sqrt (code review)</c:v>
                  </c:pt>
                  <c:pt idx="10">
                    <c:v>Retry policy (repo Q&amp;A)</c:v>
                  </c:pt>
                  <c:pt idx="11">
                    <c:v>Ring buffer (code gen)</c:v>
                  </c:pt>
                  <c:pt idx="12">
                    <c:v>Tax rates (reasoning)</c:v>
                  </c:pt>
                  <c:pt idx="13">
                    <c:v>Free will (research)</c:v>
                  </c:pt>
                </c:lvl>
              </c:multiLvlStrCache>
            </c:multiLvlStrRef>
          </c:cat>
          <c:val>
            <c:numRef>
              <c:f>Sheet1!$B$2:$B$15</c:f>
              <c:numCache>
                <c:formatCode>General</c:formatCode>
                <c:ptCount val="14"/>
                <c:pt idx="0">
                  <c:v>10</c:v>
                </c:pt>
                <c:pt idx="1">
                  <c:v>10</c:v>
                </c:pt>
                <c:pt idx="2">
                  <c:v>10</c:v>
                </c:pt>
                <c:pt idx="3">
                  <c:v>10</c:v>
                </c:pt>
                <c:pt idx="4">
                  <c:v>9</c:v>
                </c:pt>
                <c:pt idx="5">
                  <c:v>9</c:v>
                </c:pt>
                <c:pt idx="6">
                  <c:v>8</c:v>
                </c:pt>
                <c:pt idx="7">
                  <c:v>8</c:v>
                </c:pt>
                <c:pt idx="8">
                  <c:v>6</c:v>
                </c:pt>
                <c:pt idx="9">
                  <c:v>5</c:v>
                </c:pt>
                <c:pt idx="10">
                  <c:v>5</c:v>
                </c:pt>
                <c:pt idx="11">
                  <c:v>3</c:v>
                </c:pt>
                <c:pt idx="12">
                  <c:v>3</c:v>
                </c:pt>
                <c:pt idx="13">
                  <c:v>3</c:v>
                </c:pt>
              </c:numCache>
            </c:numRef>
          </c:val>
        </c:ser>
        <c:dLbls>
          <c:numFmt formatCode="0" sourceLinked="0"/>
          <c:txPr>
            <a:bodyPr/>
            <a:lstStyle/>
            <a:p>
              <a:pPr>
                <a:defRPr b="1" i="0" strike="noStrike" sz="1100" u="none">
                  <a:solidFill>
                    <a:srgbClr val="1B262C"/>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62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Agent_opt is a measurement project: it studies how a locally hosted AI coding agent behaves on a single mid-range graphics card (RTX 3080, 10 GB). The first four milestones built the measuring tools; the first full measurement run (168 runs) is done; the next steps use the tools for experiments. This deck explains why, how, where we are and what we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for a manager: this is a performance and quality question about an AI workload, and until now it has been answered by intuition. The three boxes are the three gaps the project closes: time, evidence, trustworthiness of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one sentence: we want evidence about where time goes and which fixes work. The local-only constraint is deliberate, it keeps the study reproducible and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a fixed set of tasks goes to the agent, a thin measurement layer records what happens, an automatic check judges the result, and statistics turn many runs into conclusions. The bottom line is the reproducibility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 story for a manager: the numbers will be reproducible and statistically defensible. One example of why it matters: in an early check, two tasks that passed in single runs actually pass only about 40 percent of the time. The full baseline confirmed it: only 4 of 14 tasks passed every time in 10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milestones in total. The first four built and verified the measuring equipment; that part is finished and tested. The first full run (M4.1) is complete; the next steps compare settings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isolated baseline run, 14 tasks x 10 runs at the 32k setting, 140 measured runs. Left: share of wall-clock time; the model's reading of its instructions (prefill) dominates for long-context and reasoning tasks, writing the answer dominates for code generation. Right: runs passed per task; with 10 runs each, only the extremes are clearly different (the research task needs a larger memory window and passed 1 of 10). The earlier two-run pilot suggested 75 percent prefill; the first full run showed 54 percent, and after the leaked block was removed it is 33 percent, with writing the answer now the largest share (60 percent). The 42 percent speed-up is a median over all tasks, with a confidence range of 37 to 48 percent. About 40 percent of the saved time comes from the shorter prompt and the rest from the model reusing its already-processed prompt between runs; that second part depends on runs following each other. Instrumentation overhead check is still inconclusive.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three more working weeks of effort, with long unattended GPU runs in M4 and M5. M4 is the immediate next step and is highlighted. The experiments in M5 are the heart of the project: each lever is tested against the baseline with confidence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plan's success criteria in plain language. The rule behind 'proven to help': the confidence range of the improvement must exclude zero and success rate must not drop by more than 5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ask is machine time: the statistically sound version of the experiments needs long unattended runs. The other two decisions are scoping choices that keep the project inside its planned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2404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Agent_opt  |  project overview</a:t>
            </a:r>
            <a:endParaRPr lang="en-US" sz="10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731520" y="1554480"/>
            <a:ext cx="676656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Agent_opt</a:t>
            </a:r>
            <a:endParaRPr lang="en-US" sz="5400" dirty="0"/>
          </a:p>
        </p:txBody>
      </p:sp>
      <p:sp>
        <p:nvSpPr>
          <p:cNvPr id="3" name="Subtitle"/>
          <p:cNvSpPr txBox="1"/>
          <p:nvPr/>
        </p:nvSpPr>
        <p:spPr>
          <a:xfrm>
            <a:off x="731520" y="2697480"/>
            <a:ext cx="6400800" cy="1280160"/>
          </a:xfrm>
          <a:prstGeom prst="rect">
            <a:avLst/>
          </a:prstGeom>
          <a:noFill/>
          <a:ln/>
        </p:spPr>
        <p:txBody>
          <a:bodyPr wrap="square" lIns="0" tIns="0" rIns="0" bIns="0" rtlCol="0" anchor="t"/>
          <a:lstStyle/>
          <a:p>
            <a:pPr indent="0" marL="0">
              <a:buNone/>
            </a:pPr>
            <a:r>
              <a:rPr lang="en-US" sz="2600" dirty="0">
                <a:solidFill>
                  <a:schemeClr val="accent1"/>
                </a:solidFill>
                <a:latin typeface="Cambria" pitchFamily="34" charset="0"/>
                <a:ea typeface="Cambria" pitchFamily="34" charset="-122"/>
                <a:cs typeface="Cambria" pitchFamily="34" charset="-120"/>
              </a:rPr>
              <a:t>Making a local AI coding agent measurable on a 10 GB graphics card</a:t>
            </a:r>
            <a:endParaRPr lang="en-US" sz="2600" dirty="0"/>
          </a:p>
        </p:txBody>
      </p:sp>
      <p:sp>
        <p:nvSpPr>
          <p:cNvPr id="4" name="Status line"/>
          <p:cNvSpPr txBox="1"/>
          <p:nvPr/>
        </p:nvSpPr>
        <p:spPr>
          <a:xfrm>
            <a:off x="731520" y="4343400"/>
            <a:ext cx="6400800" cy="822960"/>
          </a:xfrm>
          <a:prstGeom prst="rect">
            <a:avLst/>
          </a:prstGeom>
          <a:noFill/>
          <a:ln/>
        </p:spPr>
        <p:txBody>
          <a:bodyPr wrap="square" lIns="0" tIns="0" rIns="0" bIns="0" rtlCol="0" anchor="t"/>
          <a:lstStyle/>
          <a:p>
            <a:pPr indent="0" marL="0">
              <a:buNone/>
            </a:pPr>
            <a:r>
              <a:rPr lang="en-US" sz="1600" dirty="0">
                <a:solidFill>
                  <a:srgbClr val="D5E0E4"/>
                </a:solidFill>
                <a:latin typeface="Calibri" pitchFamily="34" charset="0"/>
                <a:ea typeface="Calibri" pitchFamily="34" charset="-122"/>
                <a:cs typeface="Calibri" pitchFamily="34" charset="-120"/>
              </a:rPr>
              <a:t>Project overview for project management. Status: tooling built (M0 to M3), first full baseline measured (M4.1).</a:t>
            </a:r>
            <a:endParaRPr lang="en-US" sz="1600" dirty="0"/>
          </a:p>
        </p:txBody>
      </p:sp>
      <p:sp>
        <p:nvSpPr>
          <p:cNvPr id="5" name="Facts panel"/>
          <p:cNvSpPr/>
          <p:nvPr/>
        </p:nvSpPr>
        <p:spPr>
          <a:xfrm>
            <a:off x="7818120" y="1234440"/>
            <a:ext cx="3840480" cy="4389120"/>
          </a:xfrm>
          <a:prstGeom prst="roundRect">
            <a:avLst>
              <a:gd name="adj" fmla="val 2857"/>
            </a:avLst>
          </a:prstGeom>
          <a:solidFill>
            <a:schemeClr val="tx1"/>
          </a:solidFill>
          <a:ln/>
        </p:spPr>
      </p:sp>
      <p:sp>
        <p:nvSpPr>
          <p:cNvPr id="6" name="Fact 1"/>
          <p:cNvSpPr txBox="1"/>
          <p:nvPr/>
        </p:nvSpPr>
        <p:spPr>
          <a:xfrm>
            <a:off x="8183880" y="1508760"/>
            <a:ext cx="320040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14</a:t>
            </a:r>
            <a:endParaRPr lang="en-US" sz="4400" dirty="0"/>
          </a:p>
        </p:txBody>
      </p:sp>
      <p:sp>
        <p:nvSpPr>
          <p:cNvPr id="7" name="Fact label 1"/>
          <p:cNvSpPr txBox="1"/>
          <p:nvPr/>
        </p:nvSpPr>
        <p:spPr>
          <a:xfrm>
            <a:off x="8183880" y="2194560"/>
            <a:ext cx="3200400" cy="457200"/>
          </a:xfrm>
          <a:prstGeom prst="rect">
            <a:avLst/>
          </a:prstGeom>
          <a:noFill/>
          <a:ln/>
        </p:spPr>
        <p:txBody>
          <a:bodyPr wrap="square" lIns="0" tIns="0" rIns="0" bIns="0" rtlCol="0" anchor="t"/>
          <a:lstStyle/>
          <a:p>
            <a:pPr indent="0" marL="0">
              <a:buNone/>
            </a:pPr>
            <a:r>
              <a:rPr lang="en-US" sz="1400" dirty="0">
                <a:solidFill>
                  <a:srgbClr val="D5E0E4"/>
                </a:solidFill>
                <a:latin typeface="Calibri" pitchFamily="34" charset="0"/>
                <a:ea typeface="Calibri" pitchFamily="34" charset="-122"/>
                <a:cs typeface="Calibri" pitchFamily="34" charset="-120"/>
              </a:rPr>
              <a:t>tasks, each checked automatically</a:t>
            </a:r>
            <a:endParaRPr lang="en-US" sz="1400" dirty="0"/>
          </a:p>
        </p:txBody>
      </p:sp>
      <p:sp>
        <p:nvSpPr>
          <p:cNvPr id="8" name="Fact 2"/>
          <p:cNvSpPr txBox="1"/>
          <p:nvPr/>
        </p:nvSpPr>
        <p:spPr>
          <a:xfrm>
            <a:off x="8183880" y="2880360"/>
            <a:ext cx="320040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335</a:t>
            </a:r>
            <a:endParaRPr lang="en-US" sz="4400" dirty="0"/>
          </a:p>
        </p:txBody>
      </p:sp>
      <p:sp>
        <p:nvSpPr>
          <p:cNvPr id="9" name="Fact label 2"/>
          <p:cNvSpPr txBox="1"/>
          <p:nvPr/>
        </p:nvSpPr>
        <p:spPr>
          <a:xfrm>
            <a:off x="8183880" y="3566160"/>
            <a:ext cx="3200400" cy="457200"/>
          </a:xfrm>
          <a:prstGeom prst="rect">
            <a:avLst/>
          </a:prstGeom>
          <a:noFill/>
          <a:ln/>
        </p:spPr>
        <p:txBody>
          <a:bodyPr wrap="square" lIns="0" tIns="0" rIns="0" bIns="0" rtlCol="0" anchor="t"/>
          <a:lstStyle/>
          <a:p>
            <a:pPr indent="0" marL="0">
              <a:buNone/>
            </a:pPr>
            <a:r>
              <a:rPr lang="en-US" sz="1400" dirty="0">
                <a:solidFill>
                  <a:srgbClr val="D5E0E4"/>
                </a:solidFill>
                <a:latin typeface="Calibri" pitchFamily="34" charset="0"/>
                <a:ea typeface="Calibri" pitchFamily="34" charset="-122"/>
                <a:cs typeface="Calibri" pitchFamily="34" charset="-120"/>
              </a:rPr>
              <a:t>automated tests keep the tooling correct</a:t>
            </a:r>
            <a:endParaRPr lang="en-US" sz="1400" dirty="0"/>
          </a:p>
        </p:txBody>
      </p:sp>
      <p:sp>
        <p:nvSpPr>
          <p:cNvPr id="10" name="Fact 3"/>
          <p:cNvSpPr txBox="1"/>
          <p:nvPr/>
        </p:nvSpPr>
        <p:spPr>
          <a:xfrm>
            <a:off x="8183880" y="4251960"/>
            <a:ext cx="3200400" cy="6858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336</a:t>
            </a:r>
            <a:endParaRPr lang="en-US" sz="4400" dirty="0"/>
          </a:p>
        </p:txBody>
      </p:sp>
      <p:sp>
        <p:nvSpPr>
          <p:cNvPr id="11" name="Fact label 3"/>
          <p:cNvSpPr txBox="1"/>
          <p:nvPr/>
        </p:nvSpPr>
        <p:spPr>
          <a:xfrm>
            <a:off x="8183880" y="4937760"/>
            <a:ext cx="3200400" cy="457200"/>
          </a:xfrm>
          <a:prstGeom prst="rect">
            <a:avLst/>
          </a:prstGeom>
          <a:noFill/>
          <a:ln/>
        </p:spPr>
        <p:txBody>
          <a:bodyPr wrap="square" lIns="0" tIns="0" rIns="0" bIns="0" rtlCol="0" anchor="t"/>
          <a:lstStyle/>
          <a:p>
            <a:pPr indent="0" marL="0">
              <a:buNone/>
            </a:pPr>
            <a:r>
              <a:rPr lang="en-US" sz="1400" dirty="0">
                <a:solidFill>
                  <a:srgbClr val="D5E0E4"/>
                </a:solidFill>
                <a:latin typeface="Calibri" pitchFamily="34" charset="0"/>
                <a:ea typeface="Calibri" pitchFamily="34" charset="-122"/>
                <a:cs typeface="Calibri" pitchFamily="34" charset="-120"/>
              </a:rPr>
              <a:t>baseline runs recorded in two full passes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Why measure an AI agent?</a:t>
            </a:r>
            <a:endParaRPr lang="en-US" sz="3400" dirty="0"/>
          </a:p>
        </p:txBody>
      </p:sp>
      <p:sp>
        <p:nvSpPr>
          <p:cNvPr id="3" name="Text 1"/>
          <p:cNvSpPr txBox="1"/>
          <p:nvPr/>
        </p:nvSpPr>
        <p:spPr>
          <a:xfrm>
            <a:off x="548640" y="1554480"/>
            <a:ext cx="448056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An AI coding agent works by asking a language model a long series of questions, with small tool steps in between (read a file, run a test). On a modest graphics card every answer is slow: a typical task takes 1 to 2 minutes, some take 8.</a:t>
            </a:r>
            <a:endParaRPr lang="en-US" sz="1800" dirty="0"/>
          </a:p>
        </p:txBody>
      </p:sp>
      <p:sp>
        <p:nvSpPr>
          <p:cNvPr id="4" name="Text 2"/>
          <p:cNvSpPr txBox="1"/>
          <p:nvPr/>
        </p:nvSpPr>
        <p:spPr>
          <a:xfrm>
            <a:off x="548640" y="3840480"/>
            <a:ext cx="4480560" cy="146304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Today the advice for making this faster or better is mostly folklore, and nobody has measured where the time really goes.</a:t>
            </a:r>
            <a:endParaRPr lang="en-US" sz="1800" dirty="0"/>
          </a:p>
        </p:txBody>
      </p:sp>
      <p:sp>
        <p:nvSpPr>
          <p:cNvPr id="5" name="Row bg 1"/>
          <p:cNvSpPr/>
          <p:nvPr/>
        </p:nvSpPr>
        <p:spPr>
          <a:xfrm>
            <a:off x="5669280" y="1554480"/>
            <a:ext cx="5943600" cy="1280160"/>
          </a:xfrm>
          <a:prstGeom prst="roundRect">
            <a:avLst>
              <a:gd name="adj" fmla="val 7143"/>
            </a:avLst>
          </a:prstGeom>
          <a:solidFill>
            <a:schemeClr val="bg2"/>
          </a:solidFill>
          <a:ln/>
        </p:spPr>
      </p:sp>
      <p:sp>
        <p:nvSpPr>
          <p:cNvPr id="6" name="Problem 1 circle"/>
          <p:cNvSpPr/>
          <p:nvPr/>
        </p:nvSpPr>
        <p:spPr>
          <a:xfrm>
            <a:off x="5897880" y="1828800"/>
            <a:ext cx="731520" cy="731520"/>
          </a:xfrm>
          <a:prstGeom prst="ellipse">
            <a:avLst/>
          </a:prstGeom>
          <a:solidFill>
            <a:schemeClr val="accent6"/>
          </a:solidFill>
          <a:ln/>
        </p:spPr>
      </p:sp>
      <p:pic>
        <p:nvPicPr>
          <p:cNvPr id="7" name="Problem 1 icon" descr="Problem 1 icon">    </p:cNvPr>
          <p:cNvPicPr>
            <a:picLocks noChangeAspect="1"/>
          </p:cNvPicPr>
          <p:nvPr/>
        </p:nvPicPr>
        <p:blipFill>
          <a:blip r:embed="rId1"/>
          <a:stretch>
            <a:fillRect/>
          </a:stretch>
        </p:blipFill>
        <p:spPr>
          <a:xfrm>
            <a:off x="6088075" y="2018995"/>
            <a:ext cx="351130" cy="351130"/>
          </a:xfrm>
          <a:prstGeom prst="rect">
            <a:avLst/>
          </a:prstGeom>
        </p:spPr>
      </p:pic>
      <p:sp>
        <p:nvSpPr>
          <p:cNvPr id="8" name="Text 5"/>
          <p:cNvSpPr txBox="1"/>
          <p:nvPr/>
        </p:nvSpPr>
        <p:spPr>
          <a:xfrm>
            <a:off x="6858000" y="1737360"/>
            <a:ext cx="45720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Unknown time sinks</a:t>
            </a:r>
            <a:endParaRPr lang="en-US" sz="1800" dirty="0"/>
          </a:p>
        </p:txBody>
      </p:sp>
      <p:sp>
        <p:nvSpPr>
          <p:cNvPr id="9" name="Text 6"/>
          <p:cNvSpPr txBox="1"/>
          <p:nvPr/>
        </p:nvSpPr>
        <p:spPr>
          <a:xfrm>
            <a:off x="6858000" y="2148840"/>
            <a:ext cx="4572000" cy="6400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We could not say which part of a run is slow, so we could not say what to fix.</a:t>
            </a:r>
            <a:endParaRPr lang="en-US" sz="1400" dirty="0"/>
          </a:p>
        </p:txBody>
      </p:sp>
      <p:sp>
        <p:nvSpPr>
          <p:cNvPr id="10" name="Row bg 2"/>
          <p:cNvSpPr/>
          <p:nvPr/>
        </p:nvSpPr>
        <p:spPr>
          <a:xfrm>
            <a:off x="5669280" y="3017520"/>
            <a:ext cx="5943600" cy="1280160"/>
          </a:xfrm>
          <a:prstGeom prst="roundRect">
            <a:avLst>
              <a:gd name="adj" fmla="val 7143"/>
            </a:avLst>
          </a:prstGeom>
          <a:solidFill>
            <a:schemeClr val="bg2"/>
          </a:solidFill>
          <a:ln/>
        </p:spPr>
      </p:sp>
      <p:sp>
        <p:nvSpPr>
          <p:cNvPr id="11" name="Problem 2 circle"/>
          <p:cNvSpPr/>
          <p:nvPr/>
        </p:nvSpPr>
        <p:spPr>
          <a:xfrm>
            <a:off x="5897880" y="3291840"/>
            <a:ext cx="731520" cy="731520"/>
          </a:xfrm>
          <a:prstGeom prst="ellipse">
            <a:avLst/>
          </a:prstGeom>
          <a:solidFill>
            <a:schemeClr val="accent6"/>
          </a:solidFill>
          <a:ln/>
        </p:spPr>
      </p:sp>
      <p:pic>
        <p:nvPicPr>
          <p:cNvPr id="12" name="Problem 2 icon" descr="Problem 2 icon">    </p:cNvPr>
          <p:cNvPicPr>
            <a:picLocks noChangeAspect="1"/>
          </p:cNvPicPr>
          <p:nvPr/>
        </p:nvPicPr>
        <p:blipFill>
          <a:blip r:embed="rId2"/>
          <a:stretch>
            <a:fillRect/>
          </a:stretch>
        </p:blipFill>
        <p:spPr>
          <a:xfrm>
            <a:off x="6088075" y="3482035"/>
            <a:ext cx="351130" cy="351130"/>
          </a:xfrm>
          <a:prstGeom prst="rect">
            <a:avLst/>
          </a:prstGeom>
        </p:spPr>
      </p:pic>
      <p:sp>
        <p:nvSpPr>
          <p:cNvPr id="13" name="Text 9"/>
          <p:cNvSpPr txBox="1"/>
          <p:nvPr/>
        </p:nvSpPr>
        <p:spPr>
          <a:xfrm>
            <a:off x="6858000" y="3200400"/>
            <a:ext cx="45720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Claims without evidence</a:t>
            </a:r>
            <a:endParaRPr lang="en-US" sz="1800" dirty="0"/>
          </a:p>
        </p:txBody>
      </p:sp>
      <p:sp>
        <p:nvSpPr>
          <p:cNvPr id="14" name="Text 10"/>
          <p:cNvSpPr txBox="1"/>
          <p:nvPr/>
        </p:nvSpPr>
        <p:spPr>
          <a:xfrm>
            <a:off x="6858000" y="3611880"/>
            <a:ext cx="4572000" cy="6400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A setting that looks faster on one run may be noise, or may quietly make answers worse.</a:t>
            </a:r>
            <a:endParaRPr lang="en-US" sz="1400" dirty="0"/>
          </a:p>
        </p:txBody>
      </p:sp>
      <p:sp>
        <p:nvSpPr>
          <p:cNvPr id="15" name="Row bg 3"/>
          <p:cNvSpPr/>
          <p:nvPr/>
        </p:nvSpPr>
        <p:spPr>
          <a:xfrm>
            <a:off x="5669280" y="4480560"/>
            <a:ext cx="5943600" cy="1280160"/>
          </a:xfrm>
          <a:prstGeom prst="roundRect">
            <a:avLst>
              <a:gd name="adj" fmla="val 7143"/>
            </a:avLst>
          </a:prstGeom>
          <a:solidFill>
            <a:schemeClr val="bg2"/>
          </a:solidFill>
          <a:ln/>
        </p:spPr>
      </p:sp>
      <p:sp>
        <p:nvSpPr>
          <p:cNvPr id="16" name="Problem 3 circle"/>
          <p:cNvSpPr/>
          <p:nvPr/>
        </p:nvSpPr>
        <p:spPr>
          <a:xfrm>
            <a:off x="5897880" y="4754880"/>
            <a:ext cx="731520" cy="731520"/>
          </a:xfrm>
          <a:prstGeom prst="ellipse">
            <a:avLst/>
          </a:prstGeom>
          <a:solidFill>
            <a:schemeClr val="accent6"/>
          </a:solidFill>
          <a:ln/>
        </p:spPr>
      </p:sp>
      <p:pic>
        <p:nvPicPr>
          <p:cNvPr id="17" name="Problem 3 icon" descr="Problem 3 icon">    </p:cNvPr>
          <p:cNvPicPr>
            <a:picLocks noChangeAspect="1"/>
          </p:cNvPicPr>
          <p:nvPr/>
        </p:nvPicPr>
        <p:blipFill>
          <a:blip r:embed="rId3"/>
          <a:stretch>
            <a:fillRect/>
          </a:stretch>
        </p:blipFill>
        <p:spPr>
          <a:xfrm>
            <a:off x="6088075" y="4945075"/>
            <a:ext cx="351130" cy="351130"/>
          </a:xfrm>
          <a:prstGeom prst="rect">
            <a:avLst/>
          </a:prstGeom>
        </p:spPr>
      </p:pic>
      <p:sp>
        <p:nvSpPr>
          <p:cNvPr id="18" name="Text 13"/>
          <p:cNvSpPr txBox="1"/>
          <p:nvPr/>
        </p:nvSpPr>
        <p:spPr>
          <a:xfrm>
            <a:off x="6858000" y="4663440"/>
            <a:ext cx="45720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Answers that look right</a:t>
            </a:r>
            <a:endParaRPr lang="en-US" sz="1800" dirty="0"/>
          </a:p>
        </p:txBody>
      </p:sp>
      <p:sp>
        <p:nvSpPr>
          <p:cNvPr id="19" name="Text 14"/>
          <p:cNvSpPr txBox="1"/>
          <p:nvPr/>
        </p:nvSpPr>
        <p:spPr>
          <a:xfrm>
            <a:off x="6858000" y="5074920"/>
            <a:ext cx="4572000" cy="6400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The agent can invent citations or claim tests passed that it never ran.</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goal: evidence, not guesses</a:t>
            </a:r>
            <a:endParaRPr lang="en-US" sz="3400" dirty="0"/>
          </a:p>
        </p:txBody>
      </p:sp>
      <p:sp>
        <p:nvSpPr>
          <p:cNvPr id="3" name="Goal panel"/>
          <p:cNvSpPr/>
          <p:nvPr/>
        </p:nvSpPr>
        <p:spPr>
          <a:xfrm>
            <a:off x="548640" y="1463040"/>
            <a:ext cx="11094415" cy="1234440"/>
          </a:xfrm>
          <a:prstGeom prst="roundRect">
            <a:avLst>
              <a:gd name="adj" fmla="val 7407"/>
            </a:avLst>
          </a:prstGeom>
          <a:solidFill>
            <a:schemeClr val="tx2"/>
          </a:solidFill>
          <a:ln/>
        </p:spPr>
      </p:sp>
      <p:sp>
        <p:nvSpPr>
          <p:cNvPr id="4" name="Goal statement"/>
          <p:cNvSpPr txBox="1"/>
          <p:nvPr/>
        </p:nvSpPr>
        <p:spPr>
          <a:xfrm>
            <a:off x="914400" y="1600200"/>
            <a:ext cx="10362895" cy="96012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Find out where an AI agent's time goes on one 10 GB graphics card, and which changes make it faster or better without making it worse.</a:t>
            </a:r>
            <a:endParaRPr lang="en-US" sz="2400" dirty="0"/>
          </a:p>
        </p:txBody>
      </p:sp>
      <p:sp>
        <p:nvSpPr>
          <p:cNvPr id="5" name="Card 1"/>
          <p:cNvSpPr/>
          <p:nvPr/>
        </p:nvSpPr>
        <p:spPr>
          <a:xfrm>
            <a:off x="548640" y="3017520"/>
            <a:ext cx="3454298" cy="2514600"/>
          </a:xfrm>
          <a:prstGeom prst="roundRect">
            <a:avLst>
              <a:gd name="adj" fmla="val 3636"/>
            </a:avLst>
          </a:prstGeom>
          <a:solidFill>
            <a:srgbClr val="FFFFFF"/>
          </a:solidFill>
          <a:ln w="9525">
            <a:solidFill>
              <a:srgbClr val="D5DEE1"/>
            </a:solidFill>
            <a:prstDash val="solid"/>
          </a:ln>
          <a:effectLst>
            <a:outerShdw sx="100000" sy="100000" kx="0" ky="0" algn="bl" rotWithShape="0" blurRad="101600" dist="25400" dir="5400000">
              <a:srgbClr val="000000">
                <a:alpha val="12000"/>
              </a:srgbClr>
            </a:outerShdw>
          </a:effectLst>
        </p:spPr>
      </p:sp>
      <p:sp>
        <p:nvSpPr>
          <p:cNvPr id="6" name="Goal 1 circle"/>
          <p:cNvSpPr/>
          <p:nvPr/>
        </p:nvSpPr>
        <p:spPr>
          <a:xfrm>
            <a:off x="868680" y="3291840"/>
            <a:ext cx="731520" cy="731520"/>
          </a:xfrm>
          <a:prstGeom prst="ellipse">
            <a:avLst/>
          </a:prstGeom>
          <a:solidFill>
            <a:schemeClr val="accent1"/>
          </a:solidFill>
          <a:ln/>
        </p:spPr>
      </p:sp>
      <p:pic>
        <p:nvPicPr>
          <p:cNvPr id="7" name="Goal 1 icon" descr="Goal 1 icon">    </p:cNvPr>
          <p:cNvPicPr>
            <a:picLocks noChangeAspect="1"/>
          </p:cNvPicPr>
          <p:nvPr/>
        </p:nvPicPr>
        <p:blipFill>
          <a:blip r:embed="rId1"/>
          <a:stretch>
            <a:fillRect/>
          </a:stretch>
        </p:blipFill>
        <p:spPr>
          <a:xfrm>
            <a:off x="1058875" y="3482035"/>
            <a:ext cx="351130" cy="351130"/>
          </a:xfrm>
          <a:prstGeom prst="rect">
            <a:avLst/>
          </a:prstGeom>
        </p:spPr>
      </p:pic>
      <p:sp>
        <p:nvSpPr>
          <p:cNvPr id="8" name="Text 5"/>
          <p:cNvSpPr txBox="1"/>
          <p:nvPr/>
        </p:nvSpPr>
        <p:spPr>
          <a:xfrm>
            <a:off x="868680" y="4160520"/>
            <a:ext cx="2814218"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Measure</a:t>
            </a:r>
            <a:endParaRPr lang="en-US" sz="2000" dirty="0"/>
          </a:p>
        </p:txBody>
      </p:sp>
      <p:sp>
        <p:nvSpPr>
          <p:cNvPr id="9" name="Text 6"/>
          <p:cNvSpPr txBox="1"/>
          <p:nvPr/>
        </p:nvSpPr>
        <p:spPr>
          <a:xfrm>
            <a:off x="868680" y="4617720"/>
            <a:ext cx="2814218" cy="8229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Time every model call, every tool step and the graphics card itself, on real tasks.</a:t>
            </a:r>
            <a:endParaRPr lang="en-US" sz="1400" dirty="0"/>
          </a:p>
        </p:txBody>
      </p:sp>
      <p:sp>
        <p:nvSpPr>
          <p:cNvPr id="10" name="Card 2"/>
          <p:cNvSpPr/>
          <p:nvPr/>
        </p:nvSpPr>
        <p:spPr>
          <a:xfrm>
            <a:off x="4368698" y="3017520"/>
            <a:ext cx="3454298" cy="2514600"/>
          </a:xfrm>
          <a:prstGeom prst="roundRect">
            <a:avLst>
              <a:gd name="adj" fmla="val 3636"/>
            </a:avLst>
          </a:prstGeom>
          <a:solidFill>
            <a:srgbClr val="FFFFFF"/>
          </a:solidFill>
          <a:ln w="9525">
            <a:solidFill>
              <a:srgbClr val="D5DEE1"/>
            </a:solidFill>
            <a:prstDash val="solid"/>
          </a:ln>
          <a:effectLst>
            <a:outerShdw sx="100000" sy="100000" kx="0" ky="0" algn="bl" rotWithShape="0" blurRad="101600" dist="25400" dir="5400000">
              <a:srgbClr val="000000">
                <a:alpha val="12000"/>
              </a:srgbClr>
            </a:outerShdw>
          </a:effectLst>
        </p:spPr>
      </p:sp>
      <p:sp>
        <p:nvSpPr>
          <p:cNvPr id="11" name="Goal 2 circle"/>
          <p:cNvSpPr/>
          <p:nvPr/>
        </p:nvSpPr>
        <p:spPr>
          <a:xfrm>
            <a:off x="4688738" y="3291840"/>
            <a:ext cx="731520" cy="731520"/>
          </a:xfrm>
          <a:prstGeom prst="ellipse">
            <a:avLst/>
          </a:prstGeom>
          <a:solidFill>
            <a:schemeClr val="accent1"/>
          </a:solidFill>
          <a:ln/>
        </p:spPr>
      </p:sp>
      <p:pic>
        <p:nvPicPr>
          <p:cNvPr id="12" name="Goal 2 icon" descr="Goal 2 icon">    </p:cNvPr>
          <p:cNvPicPr>
            <a:picLocks noChangeAspect="1"/>
          </p:cNvPicPr>
          <p:nvPr/>
        </p:nvPicPr>
        <p:blipFill>
          <a:blip r:embed="rId2"/>
          <a:stretch>
            <a:fillRect/>
          </a:stretch>
        </p:blipFill>
        <p:spPr>
          <a:xfrm>
            <a:off x="4878934" y="3482035"/>
            <a:ext cx="351130" cy="351130"/>
          </a:xfrm>
          <a:prstGeom prst="rect">
            <a:avLst/>
          </a:prstGeom>
        </p:spPr>
      </p:pic>
      <p:sp>
        <p:nvSpPr>
          <p:cNvPr id="13" name="Text 9"/>
          <p:cNvSpPr txBox="1"/>
          <p:nvPr/>
        </p:nvSpPr>
        <p:spPr>
          <a:xfrm>
            <a:off x="4688738" y="4160520"/>
            <a:ext cx="2814218"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Experiment</a:t>
            </a:r>
            <a:endParaRPr lang="en-US" sz="2000" dirty="0"/>
          </a:p>
        </p:txBody>
      </p:sp>
      <p:sp>
        <p:nvSpPr>
          <p:cNvPr id="14" name="Text 10"/>
          <p:cNvSpPr txBox="1"/>
          <p:nvPr/>
        </p:nvSpPr>
        <p:spPr>
          <a:xfrm>
            <a:off x="4688738" y="4617720"/>
            <a:ext cx="2814218" cy="8229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Change one setting at a time and repeat each test 10 times, so luck can be ruled out.</a:t>
            </a:r>
            <a:endParaRPr lang="en-US" sz="1400" dirty="0"/>
          </a:p>
        </p:txBody>
      </p:sp>
      <p:sp>
        <p:nvSpPr>
          <p:cNvPr id="15" name="Card 3"/>
          <p:cNvSpPr/>
          <p:nvPr/>
        </p:nvSpPr>
        <p:spPr>
          <a:xfrm>
            <a:off x="8188757" y="3017520"/>
            <a:ext cx="3454298" cy="2514600"/>
          </a:xfrm>
          <a:prstGeom prst="roundRect">
            <a:avLst>
              <a:gd name="adj" fmla="val 3636"/>
            </a:avLst>
          </a:prstGeom>
          <a:solidFill>
            <a:srgbClr val="FFFFFF"/>
          </a:solidFill>
          <a:ln w="9525">
            <a:solidFill>
              <a:srgbClr val="D5DEE1"/>
            </a:solidFill>
            <a:prstDash val="solid"/>
          </a:ln>
          <a:effectLst>
            <a:outerShdw sx="100000" sy="100000" kx="0" ky="0" algn="bl" rotWithShape="0" blurRad="101600" dist="25400" dir="5400000">
              <a:srgbClr val="000000">
                <a:alpha val="12000"/>
              </a:srgbClr>
            </a:outerShdw>
          </a:effectLst>
        </p:spPr>
      </p:sp>
      <p:sp>
        <p:nvSpPr>
          <p:cNvPr id="16" name="Goal 3 circle"/>
          <p:cNvSpPr/>
          <p:nvPr/>
        </p:nvSpPr>
        <p:spPr>
          <a:xfrm>
            <a:off x="8508797" y="3291840"/>
            <a:ext cx="731520" cy="731520"/>
          </a:xfrm>
          <a:prstGeom prst="ellipse">
            <a:avLst/>
          </a:prstGeom>
          <a:solidFill>
            <a:schemeClr val="accent1"/>
          </a:solidFill>
          <a:ln/>
        </p:spPr>
      </p:sp>
      <p:pic>
        <p:nvPicPr>
          <p:cNvPr id="17" name="Goal 3 icon" descr="Goal 3 icon">    </p:cNvPr>
          <p:cNvPicPr>
            <a:picLocks noChangeAspect="1"/>
          </p:cNvPicPr>
          <p:nvPr/>
        </p:nvPicPr>
        <p:blipFill>
          <a:blip r:embed="rId3"/>
          <a:stretch>
            <a:fillRect/>
          </a:stretch>
        </p:blipFill>
        <p:spPr>
          <a:xfrm>
            <a:off x="8698992" y="3482035"/>
            <a:ext cx="351130" cy="351130"/>
          </a:xfrm>
          <a:prstGeom prst="rect">
            <a:avLst/>
          </a:prstGeom>
        </p:spPr>
      </p:pic>
      <p:sp>
        <p:nvSpPr>
          <p:cNvPr id="18" name="Text 13"/>
          <p:cNvSpPr txBox="1"/>
          <p:nvPr/>
        </p:nvSpPr>
        <p:spPr>
          <a:xfrm>
            <a:off x="8508797" y="4160520"/>
            <a:ext cx="2814218"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Report</a:t>
            </a:r>
            <a:endParaRPr lang="en-US" sz="2000" dirty="0"/>
          </a:p>
        </p:txBody>
      </p:sp>
      <p:sp>
        <p:nvSpPr>
          <p:cNvPr id="19" name="Text 14"/>
          <p:cNvSpPr txBox="1"/>
          <p:nvPr/>
        </p:nvSpPr>
        <p:spPr>
          <a:xfrm>
            <a:off x="8508797" y="4617720"/>
            <a:ext cx="2814218" cy="82296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Charts with confidence ranges that anyone can re-check from the recorded runs.</a:t>
            </a:r>
            <a:endParaRPr lang="en-US" sz="1400" dirty="0"/>
          </a:p>
        </p:txBody>
      </p:sp>
      <p:sp>
        <p:nvSpPr>
          <p:cNvPr id="20" name="Text 15"/>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400" b="1" dirty="0">
                <a:solidFill>
                  <a:schemeClr val="accent6"/>
                </a:solidFill>
                <a:latin typeface="Calibri" pitchFamily="34" charset="0"/>
                <a:ea typeface="Calibri" pitchFamily="34" charset="-122"/>
                <a:cs typeface="Calibri" pitchFamily="34" charset="-120"/>
              </a:rPr>
              <a:t>Everything runs locally on one RTX 3080 (10 GB): no cloud models, no extra hardware.</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How the measurement works</a:t>
            </a:r>
            <a:endParaRPr lang="en-US" sz="3400" dirty="0"/>
          </a:p>
        </p:txBody>
      </p:sp>
      <p:sp>
        <p:nvSpPr>
          <p:cNvPr id="3" name="Step 1"/>
          <p:cNvSpPr/>
          <p:nvPr/>
        </p:nvSpPr>
        <p:spPr>
          <a:xfrm>
            <a:off x="548640" y="1554480"/>
            <a:ext cx="1999427" cy="3246120"/>
          </a:xfrm>
          <a:prstGeom prst="roundRect">
            <a:avLst>
              <a:gd name="adj" fmla="val 4573"/>
            </a:avLst>
          </a:prstGeom>
          <a:solidFill>
            <a:schemeClr val="bg2"/>
          </a:solidFill>
          <a:ln/>
        </p:spPr>
      </p:sp>
      <p:sp>
        <p:nvSpPr>
          <p:cNvPr id="4" name="Step 1 circle"/>
          <p:cNvSpPr/>
          <p:nvPr/>
        </p:nvSpPr>
        <p:spPr>
          <a:xfrm>
            <a:off x="1159734" y="1783080"/>
            <a:ext cx="777240" cy="777240"/>
          </a:xfrm>
          <a:prstGeom prst="ellipse">
            <a:avLst/>
          </a:prstGeom>
          <a:solidFill>
            <a:schemeClr val="accent6"/>
          </a:solidFill>
          <a:ln/>
        </p:spPr>
      </p:sp>
      <p:pic>
        <p:nvPicPr>
          <p:cNvPr id="5" name="Step 1 icon" descr="Step 1 icon">    </p:cNvPr>
          <p:cNvPicPr>
            <a:picLocks noChangeAspect="1"/>
          </p:cNvPicPr>
          <p:nvPr/>
        </p:nvPicPr>
        <p:blipFill>
          <a:blip r:embed="rId1"/>
          <a:stretch>
            <a:fillRect/>
          </a:stretch>
        </p:blipFill>
        <p:spPr>
          <a:xfrm>
            <a:off x="1361816" y="1985162"/>
            <a:ext cx="373075" cy="373075"/>
          </a:xfrm>
          <a:prstGeom prst="rect">
            <a:avLst/>
          </a:prstGeom>
        </p:spPr>
      </p:pic>
      <p:sp>
        <p:nvSpPr>
          <p:cNvPr id="6" name="Step title 1"/>
          <p:cNvSpPr txBox="1"/>
          <p:nvPr/>
        </p:nvSpPr>
        <p:spPr>
          <a:xfrm>
            <a:off x="685800" y="2743200"/>
            <a:ext cx="1725107"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Task suite</a:t>
            </a:r>
            <a:endParaRPr lang="en-US" sz="1800" dirty="0"/>
          </a:p>
        </p:txBody>
      </p:sp>
      <p:sp>
        <p:nvSpPr>
          <p:cNvPr id="7" name="Step text 1"/>
          <p:cNvSpPr txBox="1"/>
          <p:nvPr/>
        </p:nvSpPr>
        <p:spPr>
          <a:xfrm>
            <a:off x="685800" y="3200400"/>
            <a:ext cx="1725107" cy="1463040"/>
          </a:xfrm>
          <a:prstGeom prst="rect">
            <a:avLst/>
          </a:prstGeom>
          <a:noFill/>
          <a:ln/>
        </p:spPr>
        <p:txBody>
          <a:bodyPr wrap="square" lIns="0" tIns="0" rIns="0" bIns="0" rtlCol="0" anchor="t"/>
          <a:lstStyle/>
          <a:p>
            <a:pPr algn="ctr" indent="0" marL="0">
              <a:buNone/>
            </a:pPr>
            <a:r>
              <a:rPr lang="en-US" sz="1400" dirty="0">
                <a:solidFill>
                  <a:schemeClr val="accent3"/>
                </a:solidFill>
                <a:latin typeface="Calibri" pitchFamily="34" charset="0"/>
                <a:ea typeface="Calibri" pitchFamily="34" charset="-122"/>
                <a:cs typeface="Calibri" pitchFamily="34" charset="-120"/>
              </a:rPr>
              <a:t>14 realistic tasks, each with an automatic pass/fail check.</a:t>
            </a:r>
            <a:endParaRPr lang="en-US" sz="1400" dirty="0"/>
          </a:p>
        </p:txBody>
      </p:sp>
      <p:sp>
        <p:nvSpPr>
          <p:cNvPr id="8" name="Arrow 1"/>
          <p:cNvSpPr/>
          <p:nvPr/>
        </p:nvSpPr>
        <p:spPr>
          <a:xfrm>
            <a:off x="2566355" y="3017520"/>
            <a:ext cx="237744" cy="274320"/>
          </a:xfrm>
          <a:prstGeom prst="rightArrow">
            <a:avLst/>
          </a:prstGeom>
          <a:solidFill>
            <a:schemeClr val="accent1"/>
          </a:solidFill>
          <a:ln/>
        </p:spPr>
      </p:sp>
      <p:sp>
        <p:nvSpPr>
          <p:cNvPr id="9" name="Step 2"/>
          <p:cNvSpPr/>
          <p:nvPr/>
        </p:nvSpPr>
        <p:spPr>
          <a:xfrm>
            <a:off x="2822387" y="1554480"/>
            <a:ext cx="1999427" cy="3246120"/>
          </a:xfrm>
          <a:prstGeom prst="roundRect">
            <a:avLst>
              <a:gd name="adj" fmla="val 4573"/>
            </a:avLst>
          </a:prstGeom>
          <a:solidFill>
            <a:schemeClr val="bg2"/>
          </a:solidFill>
          <a:ln/>
        </p:spPr>
      </p:sp>
      <p:sp>
        <p:nvSpPr>
          <p:cNvPr id="10" name="Step 2 circle"/>
          <p:cNvSpPr/>
          <p:nvPr/>
        </p:nvSpPr>
        <p:spPr>
          <a:xfrm>
            <a:off x="3433481" y="1783080"/>
            <a:ext cx="777240" cy="777240"/>
          </a:xfrm>
          <a:prstGeom prst="ellipse">
            <a:avLst/>
          </a:prstGeom>
          <a:solidFill>
            <a:schemeClr val="accent1"/>
          </a:solidFill>
          <a:ln/>
        </p:spPr>
      </p:sp>
      <p:pic>
        <p:nvPicPr>
          <p:cNvPr id="11" name="Step 2 icon" descr="Step 2 icon">    </p:cNvPr>
          <p:cNvPicPr>
            <a:picLocks noChangeAspect="1"/>
          </p:cNvPicPr>
          <p:nvPr/>
        </p:nvPicPr>
        <p:blipFill>
          <a:blip r:embed="rId2"/>
          <a:stretch>
            <a:fillRect/>
          </a:stretch>
        </p:blipFill>
        <p:spPr>
          <a:xfrm>
            <a:off x="3635563" y="1985162"/>
            <a:ext cx="373075" cy="373075"/>
          </a:xfrm>
          <a:prstGeom prst="rect">
            <a:avLst/>
          </a:prstGeom>
        </p:spPr>
      </p:pic>
      <p:sp>
        <p:nvSpPr>
          <p:cNvPr id="12" name="Step title 2"/>
          <p:cNvSpPr txBox="1"/>
          <p:nvPr/>
        </p:nvSpPr>
        <p:spPr>
          <a:xfrm>
            <a:off x="2959547" y="2743200"/>
            <a:ext cx="1725107"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The agent</a:t>
            </a:r>
            <a:endParaRPr lang="en-US" sz="1800" dirty="0"/>
          </a:p>
        </p:txBody>
      </p:sp>
      <p:sp>
        <p:nvSpPr>
          <p:cNvPr id="13" name="Step text 2"/>
          <p:cNvSpPr txBox="1"/>
          <p:nvPr/>
        </p:nvSpPr>
        <p:spPr>
          <a:xfrm>
            <a:off x="2959547" y="3200400"/>
            <a:ext cx="1725107" cy="1463040"/>
          </a:xfrm>
          <a:prstGeom prst="rect">
            <a:avLst/>
          </a:prstGeom>
          <a:noFill/>
          <a:ln/>
        </p:spPr>
        <p:txBody>
          <a:bodyPr wrap="square" lIns="0" tIns="0" rIns="0" bIns="0" rtlCol="0" anchor="t"/>
          <a:lstStyle/>
          <a:p>
            <a:pPr algn="ctr" indent="0" marL="0">
              <a:buNone/>
            </a:pPr>
            <a:r>
              <a:rPr lang="en-US" sz="1400" dirty="0">
                <a:solidFill>
                  <a:schemeClr val="accent3"/>
                </a:solidFill>
                <a:latin typeface="Calibri" pitchFamily="34" charset="0"/>
                <a:ea typeface="Calibri" pitchFamily="34" charset="-122"/>
                <a:cs typeface="Calibri" pitchFamily="34" charset="-120"/>
              </a:rPr>
              <a:t>OpenCode driving a local AI model on the RTX 3080.</a:t>
            </a:r>
            <a:endParaRPr lang="en-US" sz="1400" dirty="0"/>
          </a:p>
        </p:txBody>
      </p:sp>
      <p:sp>
        <p:nvSpPr>
          <p:cNvPr id="14" name="Arrow 2"/>
          <p:cNvSpPr/>
          <p:nvPr/>
        </p:nvSpPr>
        <p:spPr>
          <a:xfrm>
            <a:off x="4840102" y="3017520"/>
            <a:ext cx="237744" cy="274320"/>
          </a:xfrm>
          <a:prstGeom prst="rightArrow">
            <a:avLst/>
          </a:prstGeom>
          <a:solidFill>
            <a:schemeClr val="accent1"/>
          </a:solidFill>
          <a:ln/>
        </p:spPr>
      </p:sp>
      <p:sp>
        <p:nvSpPr>
          <p:cNvPr id="15" name="Step 3"/>
          <p:cNvSpPr/>
          <p:nvPr/>
        </p:nvSpPr>
        <p:spPr>
          <a:xfrm>
            <a:off x="5096134" y="1554480"/>
            <a:ext cx="1999427" cy="3246120"/>
          </a:xfrm>
          <a:prstGeom prst="roundRect">
            <a:avLst>
              <a:gd name="adj" fmla="val 4573"/>
            </a:avLst>
          </a:prstGeom>
          <a:solidFill>
            <a:schemeClr val="bg2"/>
          </a:solidFill>
          <a:ln/>
        </p:spPr>
      </p:sp>
      <p:sp>
        <p:nvSpPr>
          <p:cNvPr id="16" name="Step 3 circle"/>
          <p:cNvSpPr/>
          <p:nvPr/>
        </p:nvSpPr>
        <p:spPr>
          <a:xfrm>
            <a:off x="5707228" y="1783080"/>
            <a:ext cx="777240" cy="777240"/>
          </a:xfrm>
          <a:prstGeom prst="ellipse">
            <a:avLst/>
          </a:prstGeom>
          <a:solidFill>
            <a:schemeClr val="accent6"/>
          </a:solidFill>
          <a:ln/>
        </p:spPr>
      </p:sp>
      <p:pic>
        <p:nvPicPr>
          <p:cNvPr id="17" name="Step 3 icon" descr="Step 3 icon">    </p:cNvPr>
          <p:cNvPicPr>
            <a:picLocks noChangeAspect="1"/>
          </p:cNvPicPr>
          <p:nvPr/>
        </p:nvPicPr>
        <p:blipFill>
          <a:blip r:embed="rId3"/>
          <a:stretch>
            <a:fillRect/>
          </a:stretch>
        </p:blipFill>
        <p:spPr>
          <a:xfrm>
            <a:off x="5909310" y="1985162"/>
            <a:ext cx="373075" cy="373075"/>
          </a:xfrm>
          <a:prstGeom prst="rect">
            <a:avLst/>
          </a:prstGeom>
        </p:spPr>
      </p:pic>
      <p:sp>
        <p:nvSpPr>
          <p:cNvPr id="18" name="Step title 3"/>
          <p:cNvSpPr txBox="1"/>
          <p:nvPr/>
        </p:nvSpPr>
        <p:spPr>
          <a:xfrm>
            <a:off x="5233294" y="2743200"/>
            <a:ext cx="1725107"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Measurement</a:t>
            </a:r>
            <a:endParaRPr lang="en-US" sz="1800" dirty="0"/>
          </a:p>
        </p:txBody>
      </p:sp>
      <p:sp>
        <p:nvSpPr>
          <p:cNvPr id="19" name="Step text 3"/>
          <p:cNvSpPr txBox="1"/>
          <p:nvPr/>
        </p:nvSpPr>
        <p:spPr>
          <a:xfrm>
            <a:off x="5233294" y="3200400"/>
            <a:ext cx="1725107" cy="1463040"/>
          </a:xfrm>
          <a:prstGeom prst="rect">
            <a:avLst/>
          </a:prstGeom>
          <a:noFill/>
          <a:ln/>
        </p:spPr>
        <p:txBody>
          <a:bodyPr wrap="square" lIns="0" tIns="0" rIns="0" bIns="0" rtlCol="0" anchor="t"/>
          <a:lstStyle/>
          <a:p>
            <a:pPr algn="ctr" indent="0" marL="0">
              <a:buNone/>
            </a:pPr>
            <a:r>
              <a:rPr lang="en-US" sz="1400" dirty="0">
                <a:solidFill>
                  <a:schemeClr val="accent3"/>
                </a:solidFill>
                <a:latin typeface="Calibri" pitchFamily="34" charset="0"/>
                <a:ea typeface="Calibri" pitchFamily="34" charset="-122"/>
                <a:cs typeface="Calibri" pitchFamily="34" charset="-120"/>
              </a:rPr>
              <a:t>Every model call is timed; the GPU is sampled 10 times a second.</a:t>
            </a:r>
            <a:endParaRPr lang="en-US" sz="1400" dirty="0"/>
          </a:p>
        </p:txBody>
      </p:sp>
      <p:sp>
        <p:nvSpPr>
          <p:cNvPr id="20" name="Arrow 3"/>
          <p:cNvSpPr/>
          <p:nvPr/>
        </p:nvSpPr>
        <p:spPr>
          <a:xfrm>
            <a:off x="7113849" y="3017520"/>
            <a:ext cx="237744" cy="274320"/>
          </a:xfrm>
          <a:prstGeom prst="rightArrow">
            <a:avLst/>
          </a:prstGeom>
          <a:solidFill>
            <a:schemeClr val="accent1"/>
          </a:solidFill>
          <a:ln/>
        </p:spPr>
      </p:sp>
      <p:sp>
        <p:nvSpPr>
          <p:cNvPr id="21" name="Step 4"/>
          <p:cNvSpPr/>
          <p:nvPr/>
        </p:nvSpPr>
        <p:spPr>
          <a:xfrm>
            <a:off x="7369881" y="1554480"/>
            <a:ext cx="1999427" cy="3246120"/>
          </a:xfrm>
          <a:prstGeom prst="roundRect">
            <a:avLst>
              <a:gd name="adj" fmla="val 4573"/>
            </a:avLst>
          </a:prstGeom>
          <a:solidFill>
            <a:schemeClr val="bg2"/>
          </a:solidFill>
          <a:ln/>
        </p:spPr>
      </p:sp>
      <p:sp>
        <p:nvSpPr>
          <p:cNvPr id="22" name="Step 4 circle"/>
          <p:cNvSpPr/>
          <p:nvPr/>
        </p:nvSpPr>
        <p:spPr>
          <a:xfrm>
            <a:off x="7980975" y="1783080"/>
            <a:ext cx="777240" cy="777240"/>
          </a:xfrm>
          <a:prstGeom prst="ellipse">
            <a:avLst/>
          </a:prstGeom>
          <a:solidFill>
            <a:schemeClr val="accent6"/>
          </a:solidFill>
          <a:ln/>
        </p:spPr>
      </p:sp>
      <p:pic>
        <p:nvPicPr>
          <p:cNvPr id="23" name="Step 4 icon" descr="Step 4 icon">    </p:cNvPr>
          <p:cNvPicPr>
            <a:picLocks noChangeAspect="1"/>
          </p:cNvPicPr>
          <p:nvPr/>
        </p:nvPicPr>
        <p:blipFill>
          <a:blip r:embed="rId4"/>
          <a:stretch>
            <a:fillRect/>
          </a:stretch>
        </p:blipFill>
        <p:spPr>
          <a:xfrm>
            <a:off x="8183057" y="1985162"/>
            <a:ext cx="373075" cy="373075"/>
          </a:xfrm>
          <a:prstGeom prst="rect">
            <a:avLst/>
          </a:prstGeom>
        </p:spPr>
      </p:pic>
      <p:sp>
        <p:nvSpPr>
          <p:cNvPr id="24" name="Step title 4"/>
          <p:cNvSpPr txBox="1"/>
          <p:nvPr/>
        </p:nvSpPr>
        <p:spPr>
          <a:xfrm>
            <a:off x="7507041" y="2743200"/>
            <a:ext cx="1725107"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Verdict</a:t>
            </a:r>
            <a:endParaRPr lang="en-US" sz="1800" dirty="0"/>
          </a:p>
        </p:txBody>
      </p:sp>
      <p:sp>
        <p:nvSpPr>
          <p:cNvPr id="25" name="Step text 4"/>
          <p:cNvSpPr txBox="1"/>
          <p:nvPr/>
        </p:nvSpPr>
        <p:spPr>
          <a:xfrm>
            <a:off x="7507041" y="3200400"/>
            <a:ext cx="1725107" cy="1463040"/>
          </a:xfrm>
          <a:prstGeom prst="rect">
            <a:avLst/>
          </a:prstGeom>
          <a:noFill/>
          <a:ln/>
        </p:spPr>
        <p:txBody>
          <a:bodyPr wrap="square" lIns="0" tIns="0" rIns="0" bIns="0" rtlCol="0" anchor="t"/>
          <a:lstStyle/>
          <a:p>
            <a:pPr algn="ctr" indent="0" marL="0">
              <a:buNone/>
            </a:pPr>
            <a:r>
              <a:rPr lang="en-US" sz="1400" dirty="0">
                <a:solidFill>
                  <a:schemeClr val="accent3"/>
                </a:solidFill>
                <a:latin typeface="Calibri" pitchFamily="34" charset="0"/>
                <a:ea typeface="Calibri" pitchFamily="34" charset="-122"/>
                <a:cs typeface="Calibri" pitchFamily="34" charset="-120"/>
              </a:rPr>
              <a:t>A script, not an opinion, decides if the task was done right.</a:t>
            </a:r>
            <a:endParaRPr lang="en-US" sz="1400" dirty="0"/>
          </a:p>
        </p:txBody>
      </p:sp>
      <p:sp>
        <p:nvSpPr>
          <p:cNvPr id="26" name="Arrow 4"/>
          <p:cNvSpPr/>
          <p:nvPr/>
        </p:nvSpPr>
        <p:spPr>
          <a:xfrm>
            <a:off x="9387596" y="3017520"/>
            <a:ext cx="237744" cy="274320"/>
          </a:xfrm>
          <a:prstGeom prst="rightArrow">
            <a:avLst/>
          </a:prstGeom>
          <a:solidFill>
            <a:schemeClr val="accent1"/>
          </a:solidFill>
          <a:ln/>
        </p:spPr>
      </p:sp>
      <p:sp>
        <p:nvSpPr>
          <p:cNvPr id="27" name="Step 5"/>
          <p:cNvSpPr/>
          <p:nvPr/>
        </p:nvSpPr>
        <p:spPr>
          <a:xfrm>
            <a:off x="9643628" y="1554480"/>
            <a:ext cx="1999427" cy="3246120"/>
          </a:xfrm>
          <a:prstGeom prst="roundRect">
            <a:avLst>
              <a:gd name="adj" fmla="val 4573"/>
            </a:avLst>
          </a:prstGeom>
          <a:solidFill>
            <a:schemeClr val="bg2"/>
          </a:solidFill>
          <a:ln/>
        </p:spPr>
      </p:sp>
      <p:sp>
        <p:nvSpPr>
          <p:cNvPr id="28" name="Step 5 circle"/>
          <p:cNvSpPr/>
          <p:nvPr/>
        </p:nvSpPr>
        <p:spPr>
          <a:xfrm>
            <a:off x="10254722" y="1783080"/>
            <a:ext cx="777240" cy="777240"/>
          </a:xfrm>
          <a:prstGeom prst="ellipse">
            <a:avLst/>
          </a:prstGeom>
          <a:solidFill>
            <a:schemeClr val="accent6"/>
          </a:solidFill>
          <a:ln/>
        </p:spPr>
      </p:sp>
      <p:pic>
        <p:nvPicPr>
          <p:cNvPr id="29" name="Step 5 icon" descr="Step 5 icon">    </p:cNvPr>
          <p:cNvPicPr>
            <a:picLocks noChangeAspect="1"/>
          </p:cNvPicPr>
          <p:nvPr/>
        </p:nvPicPr>
        <p:blipFill>
          <a:blip r:embed="rId5"/>
          <a:stretch>
            <a:fillRect/>
          </a:stretch>
        </p:blipFill>
        <p:spPr>
          <a:xfrm>
            <a:off x="10456804" y="1985162"/>
            <a:ext cx="373075" cy="373075"/>
          </a:xfrm>
          <a:prstGeom prst="rect">
            <a:avLst/>
          </a:prstGeom>
        </p:spPr>
      </p:pic>
      <p:sp>
        <p:nvSpPr>
          <p:cNvPr id="30" name="Step title 5"/>
          <p:cNvSpPr txBox="1"/>
          <p:nvPr/>
        </p:nvSpPr>
        <p:spPr>
          <a:xfrm>
            <a:off x="9780788" y="2743200"/>
            <a:ext cx="1725107"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Statistics</a:t>
            </a:r>
            <a:endParaRPr lang="en-US" sz="1800" dirty="0"/>
          </a:p>
        </p:txBody>
      </p:sp>
      <p:sp>
        <p:nvSpPr>
          <p:cNvPr id="31" name="Step text 5"/>
          <p:cNvSpPr txBox="1"/>
          <p:nvPr/>
        </p:nvSpPr>
        <p:spPr>
          <a:xfrm>
            <a:off x="9780788" y="3200400"/>
            <a:ext cx="1725107" cy="1463040"/>
          </a:xfrm>
          <a:prstGeom prst="rect">
            <a:avLst/>
          </a:prstGeom>
          <a:noFill/>
          <a:ln/>
        </p:spPr>
        <p:txBody>
          <a:bodyPr wrap="square" lIns="0" tIns="0" rIns="0" bIns="0" rtlCol="0" anchor="t"/>
          <a:lstStyle/>
          <a:p>
            <a:pPr algn="ctr" indent="0" marL="0">
              <a:buNone/>
            </a:pPr>
            <a:r>
              <a:rPr lang="en-US" sz="1400" dirty="0">
                <a:solidFill>
                  <a:schemeClr val="accent3"/>
                </a:solidFill>
                <a:latin typeface="Calibri" pitchFamily="34" charset="0"/>
                <a:ea typeface="Calibri" pitchFamily="34" charset="-122"/>
                <a:cs typeface="Calibri" pitchFamily="34" charset="-120"/>
              </a:rPr>
              <a:t>10 repeats per test; results come with confidence ranges.</a:t>
            </a:r>
            <a:endParaRPr lang="en-US" sz="1400" dirty="0"/>
          </a:p>
        </p:txBody>
      </p:sp>
      <p:sp>
        <p:nvSpPr>
          <p:cNvPr id="32" name="Replay panel"/>
          <p:cNvSpPr/>
          <p:nvPr/>
        </p:nvSpPr>
        <p:spPr>
          <a:xfrm>
            <a:off x="548640" y="5120640"/>
            <a:ext cx="11094415" cy="960120"/>
          </a:xfrm>
          <a:prstGeom prst="roundRect">
            <a:avLst>
              <a:gd name="adj" fmla="val 9524"/>
            </a:avLst>
          </a:prstGeom>
          <a:solidFill>
            <a:schemeClr val="tx2"/>
          </a:solidFill>
          <a:ln/>
        </p:spPr>
      </p:sp>
      <p:sp>
        <p:nvSpPr>
          <p:cNvPr id="33" name="Replay text"/>
          <p:cNvSpPr txBox="1"/>
          <p:nvPr/>
        </p:nvSpPr>
        <p:spPr>
          <a:xfrm>
            <a:off x="868680" y="5166360"/>
            <a:ext cx="10454335" cy="86868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Every run is recorded. </a:t>
            </a:r>
            <a:pPr indent="0" marL="0">
              <a:buNone/>
            </a:pPr>
            <a:r>
              <a:rPr lang="en-US" sz="1600" dirty="0">
                <a:solidFill>
                  <a:srgbClr val="FFFFFF"/>
                </a:solidFill>
                <a:latin typeface="Calibri" pitchFamily="34" charset="0"/>
                <a:ea typeface="Calibri" pitchFamily="34" charset="-122"/>
                <a:cs typeface="Calibri" pitchFamily="34" charset="-120"/>
              </a:rPr>
              <a:t>All results can be re-derived later from the recordings alone, with no graphics card and no AI model, so nobody has to trust a screenshot.</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Why the results can be trusted</a:t>
            </a:r>
            <a:endParaRPr lang="en-US" sz="3400" dirty="0"/>
          </a:p>
        </p:txBody>
      </p:sp>
      <p:sp>
        <p:nvSpPr>
          <p:cNvPr id="3" name="Trust card 1"/>
          <p:cNvSpPr/>
          <p:nvPr/>
        </p:nvSpPr>
        <p:spPr>
          <a:xfrm>
            <a:off x="548640" y="1508760"/>
            <a:ext cx="3484778" cy="2103120"/>
          </a:xfrm>
          <a:prstGeom prst="roundRect">
            <a:avLst>
              <a:gd name="adj" fmla="val 4348"/>
            </a:avLst>
          </a:prstGeom>
          <a:solidFill>
            <a:schemeClr val="bg2"/>
          </a:solidFill>
          <a:ln/>
        </p:spPr>
      </p:sp>
      <p:sp>
        <p:nvSpPr>
          <p:cNvPr id="4" name="Trust 1 circle"/>
          <p:cNvSpPr/>
          <p:nvPr/>
        </p:nvSpPr>
        <p:spPr>
          <a:xfrm>
            <a:off x="822960" y="1783080"/>
            <a:ext cx="640080" cy="640080"/>
          </a:xfrm>
          <a:prstGeom prst="ellipse">
            <a:avLst/>
          </a:prstGeom>
          <a:solidFill>
            <a:schemeClr val="accent2"/>
          </a:solidFill>
          <a:ln/>
        </p:spPr>
      </p:sp>
      <p:pic>
        <p:nvPicPr>
          <p:cNvPr id="5" name="Trust 1 icon" descr="Trust 1 icon">    </p:cNvPr>
          <p:cNvPicPr>
            <a:picLocks noChangeAspect="1"/>
          </p:cNvPicPr>
          <p:nvPr/>
        </p:nvPicPr>
        <p:blipFill>
          <a:blip r:embed="rId1"/>
          <a:stretch>
            <a:fillRect/>
          </a:stretch>
        </p:blipFill>
        <p:spPr>
          <a:xfrm>
            <a:off x="989381" y="1949501"/>
            <a:ext cx="307238" cy="307238"/>
          </a:xfrm>
          <a:prstGeom prst="rect">
            <a:avLst/>
          </a:prstGeom>
        </p:spPr>
      </p:pic>
      <p:sp>
        <p:nvSpPr>
          <p:cNvPr id="6" name="Text 3"/>
          <p:cNvSpPr txBox="1"/>
          <p:nvPr/>
        </p:nvSpPr>
        <p:spPr>
          <a:xfrm>
            <a:off x="1600200" y="185623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Automatic pass/fail</a:t>
            </a:r>
            <a:endParaRPr lang="en-US" sz="1800" dirty="0"/>
          </a:p>
        </p:txBody>
      </p:sp>
      <p:sp>
        <p:nvSpPr>
          <p:cNvPr id="7" name="Text 4"/>
          <p:cNvSpPr txBox="1"/>
          <p:nvPr/>
        </p:nvSpPr>
        <p:spPr>
          <a:xfrm>
            <a:off x="822960" y="256032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14 tasks are judged by code: compile and run, unit tests, fact checks.</a:t>
            </a:r>
            <a:endParaRPr lang="en-US" sz="1400" dirty="0"/>
          </a:p>
        </p:txBody>
      </p:sp>
      <p:sp>
        <p:nvSpPr>
          <p:cNvPr id="8" name="Trust card 2"/>
          <p:cNvSpPr/>
          <p:nvPr/>
        </p:nvSpPr>
        <p:spPr>
          <a:xfrm>
            <a:off x="4353458" y="1508760"/>
            <a:ext cx="3484778" cy="2103120"/>
          </a:xfrm>
          <a:prstGeom prst="roundRect">
            <a:avLst>
              <a:gd name="adj" fmla="val 4348"/>
            </a:avLst>
          </a:prstGeom>
          <a:solidFill>
            <a:schemeClr val="bg2"/>
          </a:solidFill>
          <a:ln/>
        </p:spPr>
      </p:sp>
      <p:sp>
        <p:nvSpPr>
          <p:cNvPr id="9" name="Trust 2 circle"/>
          <p:cNvSpPr/>
          <p:nvPr/>
        </p:nvSpPr>
        <p:spPr>
          <a:xfrm>
            <a:off x="4627778" y="1783080"/>
            <a:ext cx="640080" cy="640080"/>
          </a:xfrm>
          <a:prstGeom prst="ellipse">
            <a:avLst/>
          </a:prstGeom>
          <a:solidFill>
            <a:schemeClr val="accent2"/>
          </a:solidFill>
          <a:ln/>
        </p:spPr>
      </p:sp>
      <p:pic>
        <p:nvPicPr>
          <p:cNvPr id="10" name="Trust 2 icon" descr="Trust 2 icon">    </p:cNvPr>
          <p:cNvPicPr>
            <a:picLocks noChangeAspect="1"/>
          </p:cNvPicPr>
          <p:nvPr/>
        </p:nvPicPr>
        <p:blipFill>
          <a:blip r:embed="rId2"/>
          <a:stretch>
            <a:fillRect/>
          </a:stretch>
        </p:blipFill>
        <p:spPr>
          <a:xfrm>
            <a:off x="4794199" y="1949501"/>
            <a:ext cx="307238" cy="307238"/>
          </a:xfrm>
          <a:prstGeom prst="rect">
            <a:avLst/>
          </a:prstGeom>
        </p:spPr>
      </p:pic>
      <p:sp>
        <p:nvSpPr>
          <p:cNvPr id="11" name="Text 7"/>
          <p:cNvSpPr txBox="1"/>
          <p:nvPr/>
        </p:nvSpPr>
        <p:spPr>
          <a:xfrm>
            <a:off x="5405018" y="185623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Repeat and shuffle</a:t>
            </a:r>
            <a:endParaRPr lang="en-US" sz="1800" dirty="0"/>
          </a:p>
        </p:txBody>
      </p:sp>
      <p:sp>
        <p:nvSpPr>
          <p:cNvPr id="12" name="Text 8"/>
          <p:cNvSpPr txBox="1"/>
          <p:nvPr/>
        </p:nvSpPr>
        <p:spPr>
          <a:xfrm>
            <a:off x="4627778" y="256032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10 runs per test, in random order, with recorded random seeds.</a:t>
            </a:r>
            <a:endParaRPr lang="en-US" sz="1400" dirty="0"/>
          </a:p>
        </p:txBody>
      </p:sp>
      <p:sp>
        <p:nvSpPr>
          <p:cNvPr id="13" name="Trust card 3"/>
          <p:cNvSpPr/>
          <p:nvPr/>
        </p:nvSpPr>
        <p:spPr>
          <a:xfrm>
            <a:off x="8158277" y="1508760"/>
            <a:ext cx="3484778" cy="2103120"/>
          </a:xfrm>
          <a:prstGeom prst="roundRect">
            <a:avLst>
              <a:gd name="adj" fmla="val 4348"/>
            </a:avLst>
          </a:prstGeom>
          <a:solidFill>
            <a:schemeClr val="bg2"/>
          </a:solidFill>
          <a:ln/>
        </p:spPr>
      </p:sp>
      <p:sp>
        <p:nvSpPr>
          <p:cNvPr id="14" name="Trust 3 circle"/>
          <p:cNvSpPr/>
          <p:nvPr/>
        </p:nvSpPr>
        <p:spPr>
          <a:xfrm>
            <a:off x="8432597" y="1783080"/>
            <a:ext cx="640080" cy="640080"/>
          </a:xfrm>
          <a:prstGeom prst="ellipse">
            <a:avLst/>
          </a:prstGeom>
          <a:solidFill>
            <a:schemeClr val="accent2"/>
          </a:solidFill>
          <a:ln/>
        </p:spPr>
      </p:sp>
      <p:pic>
        <p:nvPicPr>
          <p:cNvPr id="15" name="Trust 3 icon" descr="Trust 3 icon">    </p:cNvPr>
          <p:cNvPicPr>
            <a:picLocks noChangeAspect="1"/>
          </p:cNvPicPr>
          <p:nvPr/>
        </p:nvPicPr>
        <p:blipFill>
          <a:blip r:embed="rId3"/>
          <a:stretch>
            <a:fillRect/>
          </a:stretch>
        </p:blipFill>
        <p:spPr>
          <a:xfrm>
            <a:off x="8599018" y="1949501"/>
            <a:ext cx="307238" cy="307238"/>
          </a:xfrm>
          <a:prstGeom prst="rect">
            <a:avLst/>
          </a:prstGeom>
        </p:spPr>
      </p:pic>
      <p:sp>
        <p:nvSpPr>
          <p:cNvPr id="16" name="Text 11"/>
          <p:cNvSpPr txBox="1"/>
          <p:nvPr/>
        </p:nvSpPr>
        <p:spPr>
          <a:xfrm>
            <a:off x="9209837" y="185623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Measure the measurer</a:t>
            </a:r>
            <a:endParaRPr lang="en-US" sz="1800" dirty="0"/>
          </a:p>
        </p:txBody>
      </p:sp>
      <p:sp>
        <p:nvSpPr>
          <p:cNvPr id="17" name="Text 12"/>
          <p:cNvSpPr txBox="1"/>
          <p:nvPr/>
        </p:nvSpPr>
        <p:spPr>
          <a:xfrm>
            <a:off x="8432597" y="256032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Extra runs without our probe show it does not distort the results.</a:t>
            </a:r>
            <a:endParaRPr lang="en-US" sz="1400" dirty="0"/>
          </a:p>
        </p:txBody>
      </p:sp>
      <p:sp>
        <p:nvSpPr>
          <p:cNvPr id="18" name="Trust card 4"/>
          <p:cNvSpPr/>
          <p:nvPr/>
        </p:nvSpPr>
        <p:spPr>
          <a:xfrm>
            <a:off x="548640" y="3886200"/>
            <a:ext cx="3484778" cy="2103120"/>
          </a:xfrm>
          <a:prstGeom prst="roundRect">
            <a:avLst>
              <a:gd name="adj" fmla="val 4348"/>
            </a:avLst>
          </a:prstGeom>
          <a:solidFill>
            <a:schemeClr val="bg2"/>
          </a:solidFill>
          <a:ln/>
        </p:spPr>
      </p:sp>
      <p:sp>
        <p:nvSpPr>
          <p:cNvPr id="19" name="Trust 4 circle"/>
          <p:cNvSpPr/>
          <p:nvPr/>
        </p:nvSpPr>
        <p:spPr>
          <a:xfrm>
            <a:off x="822960" y="4160520"/>
            <a:ext cx="640080" cy="640080"/>
          </a:xfrm>
          <a:prstGeom prst="ellipse">
            <a:avLst/>
          </a:prstGeom>
          <a:solidFill>
            <a:schemeClr val="accent2"/>
          </a:solidFill>
          <a:ln/>
        </p:spPr>
      </p:sp>
      <p:pic>
        <p:nvPicPr>
          <p:cNvPr id="20" name="Trust 4 icon" descr="Trust 4 icon">    </p:cNvPr>
          <p:cNvPicPr>
            <a:picLocks noChangeAspect="1"/>
          </p:cNvPicPr>
          <p:nvPr/>
        </p:nvPicPr>
        <p:blipFill>
          <a:blip r:embed="rId4"/>
          <a:stretch>
            <a:fillRect/>
          </a:stretch>
        </p:blipFill>
        <p:spPr>
          <a:xfrm>
            <a:off x="989381" y="4326941"/>
            <a:ext cx="307238" cy="307238"/>
          </a:xfrm>
          <a:prstGeom prst="rect">
            <a:avLst/>
          </a:prstGeom>
        </p:spPr>
      </p:pic>
      <p:sp>
        <p:nvSpPr>
          <p:cNvPr id="21" name="Text 15"/>
          <p:cNvSpPr txBox="1"/>
          <p:nvPr/>
        </p:nvSpPr>
        <p:spPr>
          <a:xfrm>
            <a:off x="1600200" y="423367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Clear statistics</a:t>
            </a:r>
            <a:endParaRPr lang="en-US" sz="1800" dirty="0"/>
          </a:p>
        </p:txBody>
      </p:sp>
      <p:sp>
        <p:nvSpPr>
          <p:cNvPr id="22" name="Text 16"/>
          <p:cNvSpPr txBox="1"/>
          <p:nvPr/>
        </p:nvSpPr>
        <p:spPr>
          <a:xfrm>
            <a:off x="822960" y="493776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Confidence ranges everywhere; nothing is claimed from fewer than 5 runs.</a:t>
            </a:r>
            <a:endParaRPr lang="en-US" sz="1400" dirty="0"/>
          </a:p>
        </p:txBody>
      </p:sp>
      <p:sp>
        <p:nvSpPr>
          <p:cNvPr id="23" name="Trust card 5"/>
          <p:cNvSpPr/>
          <p:nvPr/>
        </p:nvSpPr>
        <p:spPr>
          <a:xfrm>
            <a:off x="4353458" y="3886200"/>
            <a:ext cx="3484778" cy="2103120"/>
          </a:xfrm>
          <a:prstGeom prst="roundRect">
            <a:avLst>
              <a:gd name="adj" fmla="val 4348"/>
            </a:avLst>
          </a:prstGeom>
          <a:solidFill>
            <a:schemeClr val="bg2"/>
          </a:solidFill>
          <a:ln/>
        </p:spPr>
      </p:sp>
      <p:sp>
        <p:nvSpPr>
          <p:cNvPr id="24" name="Trust 5 circle"/>
          <p:cNvSpPr/>
          <p:nvPr/>
        </p:nvSpPr>
        <p:spPr>
          <a:xfrm>
            <a:off x="4627778" y="4160520"/>
            <a:ext cx="640080" cy="640080"/>
          </a:xfrm>
          <a:prstGeom prst="ellipse">
            <a:avLst/>
          </a:prstGeom>
          <a:solidFill>
            <a:schemeClr val="accent2"/>
          </a:solidFill>
          <a:ln/>
        </p:spPr>
      </p:sp>
      <p:pic>
        <p:nvPicPr>
          <p:cNvPr id="25" name="Trust 5 icon" descr="Trust 5 icon">    </p:cNvPr>
          <p:cNvPicPr>
            <a:picLocks noChangeAspect="1"/>
          </p:cNvPicPr>
          <p:nvPr/>
        </p:nvPicPr>
        <p:blipFill>
          <a:blip r:embed="rId5"/>
          <a:stretch>
            <a:fillRect/>
          </a:stretch>
        </p:blipFill>
        <p:spPr>
          <a:xfrm>
            <a:off x="4794199" y="4326941"/>
            <a:ext cx="307238" cy="307238"/>
          </a:xfrm>
          <a:prstGeom prst="rect">
            <a:avLst/>
          </a:prstGeom>
        </p:spPr>
      </p:pic>
      <p:sp>
        <p:nvSpPr>
          <p:cNvPr id="26" name="Text 19"/>
          <p:cNvSpPr txBox="1"/>
          <p:nvPr/>
        </p:nvSpPr>
        <p:spPr>
          <a:xfrm>
            <a:off x="5405018" y="423367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Self-testing tooling</a:t>
            </a:r>
            <a:endParaRPr lang="en-US" sz="1800" dirty="0"/>
          </a:p>
        </p:txBody>
      </p:sp>
      <p:sp>
        <p:nvSpPr>
          <p:cNvPr id="27" name="Text 20"/>
          <p:cNvSpPr txBox="1"/>
          <p:nvPr/>
        </p:nvSpPr>
        <p:spPr>
          <a:xfrm>
            <a:off x="4627778" y="493776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335 automated tests; results are re-derived from recordings on every change.</a:t>
            </a:r>
            <a:endParaRPr lang="en-US" sz="1400" dirty="0"/>
          </a:p>
        </p:txBody>
      </p:sp>
      <p:sp>
        <p:nvSpPr>
          <p:cNvPr id="28" name="Trust card 6"/>
          <p:cNvSpPr/>
          <p:nvPr/>
        </p:nvSpPr>
        <p:spPr>
          <a:xfrm>
            <a:off x="8158277" y="3886200"/>
            <a:ext cx="3484778" cy="2103120"/>
          </a:xfrm>
          <a:prstGeom prst="roundRect">
            <a:avLst>
              <a:gd name="adj" fmla="val 4348"/>
            </a:avLst>
          </a:prstGeom>
          <a:solidFill>
            <a:schemeClr val="bg2"/>
          </a:solidFill>
          <a:ln/>
        </p:spPr>
      </p:sp>
      <p:sp>
        <p:nvSpPr>
          <p:cNvPr id="29" name="Trust 6 circle"/>
          <p:cNvSpPr/>
          <p:nvPr/>
        </p:nvSpPr>
        <p:spPr>
          <a:xfrm>
            <a:off x="8432597" y="4160520"/>
            <a:ext cx="640080" cy="640080"/>
          </a:xfrm>
          <a:prstGeom prst="ellipse">
            <a:avLst/>
          </a:prstGeom>
          <a:solidFill>
            <a:schemeClr val="accent2"/>
          </a:solidFill>
          <a:ln/>
        </p:spPr>
      </p:sp>
      <p:pic>
        <p:nvPicPr>
          <p:cNvPr id="30" name="Trust 6 icon" descr="Trust 6 icon">    </p:cNvPr>
          <p:cNvPicPr>
            <a:picLocks noChangeAspect="1"/>
          </p:cNvPicPr>
          <p:nvPr/>
        </p:nvPicPr>
        <p:blipFill>
          <a:blip r:embed="rId6"/>
          <a:stretch>
            <a:fillRect/>
          </a:stretch>
        </p:blipFill>
        <p:spPr>
          <a:xfrm>
            <a:off x="8599018" y="4326941"/>
            <a:ext cx="307238" cy="307238"/>
          </a:xfrm>
          <a:prstGeom prst="rect">
            <a:avLst/>
          </a:prstGeom>
        </p:spPr>
      </p:pic>
      <p:sp>
        <p:nvSpPr>
          <p:cNvPr id="31" name="Text 23"/>
          <p:cNvSpPr txBox="1"/>
          <p:nvPr/>
        </p:nvSpPr>
        <p:spPr>
          <a:xfrm>
            <a:off x="9209837" y="4233672"/>
            <a:ext cx="2204618"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Failures stay visible</a:t>
            </a:r>
            <a:endParaRPr lang="en-US" sz="1800" dirty="0"/>
          </a:p>
        </p:txBody>
      </p:sp>
      <p:sp>
        <p:nvSpPr>
          <p:cNvPr id="32" name="Text 24"/>
          <p:cNvSpPr txBox="1"/>
          <p:nvPr/>
        </p:nvSpPr>
        <p:spPr>
          <a:xfrm>
            <a:off x="8432597" y="4937760"/>
            <a:ext cx="293613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Negative results and past measurement bugs are documented, not hidden.</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Where we are: tooling built, first data in</a:t>
            </a:r>
            <a:endParaRPr lang="en-US" sz="3400" dirty="0"/>
          </a:p>
        </p:txBody>
      </p:sp>
      <p:sp>
        <p:nvSpPr>
          <p:cNvPr id="3" name="Build phase pill"/>
          <p:cNvSpPr/>
          <p:nvPr/>
        </p:nvSpPr>
        <p:spPr>
          <a:xfrm>
            <a:off x="594360" y="1508760"/>
            <a:ext cx="5455768" cy="411480"/>
          </a:xfrm>
          <a:prstGeom prst="roundRect">
            <a:avLst>
              <a:gd name="adj" fmla="val 48889"/>
            </a:avLst>
          </a:prstGeom>
          <a:solidFill>
            <a:schemeClr val="accent2"/>
          </a:solidFill>
          <a:ln/>
        </p:spPr>
      </p:sp>
      <p:sp>
        <p:nvSpPr>
          <p:cNvPr id="4" name="Build phase label"/>
          <p:cNvSpPr txBox="1"/>
          <p:nvPr/>
        </p:nvSpPr>
        <p:spPr>
          <a:xfrm>
            <a:off x="594360" y="1508760"/>
            <a:ext cx="5455768"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 phase: complete</a:t>
            </a:r>
            <a:endParaRPr lang="en-US" sz="1400" dirty="0"/>
          </a:p>
        </p:txBody>
      </p:sp>
      <p:sp>
        <p:nvSpPr>
          <p:cNvPr id="5" name="Measure phase pill"/>
          <p:cNvSpPr/>
          <p:nvPr/>
        </p:nvSpPr>
        <p:spPr>
          <a:xfrm>
            <a:off x="6141568" y="1508760"/>
            <a:ext cx="5455768" cy="411480"/>
          </a:xfrm>
          <a:prstGeom prst="roundRect">
            <a:avLst>
              <a:gd name="adj" fmla="val 48889"/>
            </a:avLst>
          </a:prstGeom>
          <a:solidFill>
            <a:schemeClr val="accent1"/>
          </a:solidFill>
          <a:ln/>
        </p:spPr>
      </p:sp>
      <p:sp>
        <p:nvSpPr>
          <p:cNvPr id="6" name="Measure phase label"/>
          <p:cNvSpPr txBox="1"/>
          <p:nvPr/>
        </p:nvSpPr>
        <p:spPr>
          <a:xfrm>
            <a:off x="6141568" y="1508760"/>
            <a:ext cx="5455768"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Measurement phase: first run done</a:t>
            </a:r>
            <a:endParaRPr lang="en-US" sz="1400" dirty="0"/>
          </a:p>
        </p:txBody>
      </p:sp>
      <p:sp>
        <p:nvSpPr>
          <p:cNvPr id="7" name="Timeline line"/>
          <p:cNvSpPr/>
          <p:nvPr/>
        </p:nvSpPr>
        <p:spPr>
          <a:xfrm>
            <a:off x="1242041" y="2651760"/>
            <a:ext cx="9707613" cy="0"/>
          </a:xfrm>
          <a:prstGeom prst="line">
            <a:avLst/>
          </a:prstGeom>
          <a:noFill/>
          <a:ln w="25400">
            <a:solidFill>
              <a:srgbClr val="C4CED3"/>
            </a:solidFill>
            <a:prstDash val="solid"/>
          </a:ln>
        </p:spPr>
      </p:sp>
      <p:sp>
        <p:nvSpPr>
          <p:cNvPr id="8" name="Milestone M0"/>
          <p:cNvSpPr/>
          <p:nvPr/>
        </p:nvSpPr>
        <p:spPr>
          <a:xfrm>
            <a:off x="922001" y="2331720"/>
            <a:ext cx="640080" cy="640080"/>
          </a:xfrm>
          <a:prstGeom prst="ellipse">
            <a:avLst/>
          </a:prstGeom>
          <a:solidFill>
            <a:schemeClr val="accent2"/>
          </a:solidFill>
          <a:ln/>
        </p:spPr>
      </p:sp>
      <p:pic>
        <p:nvPicPr>
          <p:cNvPr id="9" name="Done check M0" descr="done">    </p:cNvPr>
          <p:cNvPicPr>
            <a:picLocks noChangeAspect="1"/>
          </p:cNvPicPr>
          <p:nvPr/>
        </p:nvPicPr>
        <p:blipFill>
          <a:blip r:embed="rId1"/>
          <a:stretch>
            <a:fillRect/>
          </a:stretch>
        </p:blipFill>
        <p:spPr>
          <a:xfrm>
            <a:off x="1059161" y="2468880"/>
            <a:ext cx="365760" cy="365760"/>
          </a:xfrm>
          <a:prstGeom prst="rect">
            <a:avLst/>
          </a:prstGeom>
        </p:spPr>
      </p:pic>
      <p:sp>
        <p:nvSpPr>
          <p:cNvPr id="10" name="Milestone name M0"/>
          <p:cNvSpPr txBox="1"/>
          <p:nvPr/>
        </p:nvSpPr>
        <p:spPr>
          <a:xfrm>
            <a:off x="594360"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M0  Baseline and setup</a:t>
            </a:r>
            <a:endParaRPr lang="en-US" sz="1400" dirty="0"/>
          </a:p>
        </p:txBody>
      </p:sp>
      <p:sp>
        <p:nvSpPr>
          <p:cNvPr id="11" name="Milestone M1"/>
          <p:cNvSpPr/>
          <p:nvPr/>
        </p:nvSpPr>
        <p:spPr>
          <a:xfrm>
            <a:off x="2308803" y="2331720"/>
            <a:ext cx="640080" cy="640080"/>
          </a:xfrm>
          <a:prstGeom prst="ellipse">
            <a:avLst/>
          </a:prstGeom>
          <a:solidFill>
            <a:schemeClr val="accent2"/>
          </a:solidFill>
          <a:ln/>
        </p:spPr>
      </p:sp>
      <p:pic>
        <p:nvPicPr>
          <p:cNvPr id="12" name="Done check M1" descr="done">    </p:cNvPr>
          <p:cNvPicPr>
            <a:picLocks noChangeAspect="1"/>
          </p:cNvPicPr>
          <p:nvPr/>
        </p:nvPicPr>
        <p:blipFill>
          <a:blip r:embed="rId2"/>
          <a:stretch>
            <a:fillRect/>
          </a:stretch>
        </p:blipFill>
        <p:spPr>
          <a:xfrm>
            <a:off x="2445963" y="2468880"/>
            <a:ext cx="365760" cy="365760"/>
          </a:xfrm>
          <a:prstGeom prst="rect">
            <a:avLst/>
          </a:prstGeom>
        </p:spPr>
      </p:pic>
      <p:sp>
        <p:nvSpPr>
          <p:cNvPr id="13" name="Milestone name M1"/>
          <p:cNvSpPr txBox="1"/>
          <p:nvPr/>
        </p:nvSpPr>
        <p:spPr>
          <a:xfrm>
            <a:off x="1981162"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M1  Task suite</a:t>
            </a:r>
            <a:endParaRPr lang="en-US" sz="1400" dirty="0"/>
          </a:p>
        </p:txBody>
      </p:sp>
      <p:sp>
        <p:nvSpPr>
          <p:cNvPr id="14" name="Milestone M2"/>
          <p:cNvSpPr/>
          <p:nvPr/>
        </p:nvSpPr>
        <p:spPr>
          <a:xfrm>
            <a:off x="3695605" y="2331720"/>
            <a:ext cx="640080" cy="640080"/>
          </a:xfrm>
          <a:prstGeom prst="ellipse">
            <a:avLst/>
          </a:prstGeom>
          <a:solidFill>
            <a:schemeClr val="accent2"/>
          </a:solidFill>
          <a:ln/>
        </p:spPr>
      </p:sp>
      <p:pic>
        <p:nvPicPr>
          <p:cNvPr id="15" name="Done check M2" descr="done">    </p:cNvPr>
          <p:cNvPicPr>
            <a:picLocks noChangeAspect="1"/>
          </p:cNvPicPr>
          <p:nvPr/>
        </p:nvPicPr>
        <p:blipFill>
          <a:blip r:embed="rId3"/>
          <a:stretch>
            <a:fillRect/>
          </a:stretch>
        </p:blipFill>
        <p:spPr>
          <a:xfrm>
            <a:off x="3832765" y="2468880"/>
            <a:ext cx="365760" cy="365760"/>
          </a:xfrm>
          <a:prstGeom prst="rect">
            <a:avLst/>
          </a:prstGeom>
        </p:spPr>
      </p:pic>
      <p:sp>
        <p:nvSpPr>
          <p:cNvPr id="16" name="Milestone name M2"/>
          <p:cNvSpPr txBox="1"/>
          <p:nvPr/>
        </p:nvSpPr>
        <p:spPr>
          <a:xfrm>
            <a:off x="3367964"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M2  Run and measure</a:t>
            </a:r>
            <a:endParaRPr lang="en-US" sz="1400" dirty="0"/>
          </a:p>
        </p:txBody>
      </p:sp>
      <p:sp>
        <p:nvSpPr>
          <p:cNvPr id="17" name="Milestone M3"/>
          <p:cNvSpPr/>
          <p:nvPr/>
        </p:nvSpPr>
        <p:spPr>
          <a:xfrm>
            <a:off x="5082407" y="2331720"/>
            <a:ext cx="640080" cy="640080"/>
          </a:xfrm>
          <a:prstGeom prst="ellipse">
            <a:avLst/>
          </a:prstGeom>
          <a:solidFill>
            <a:schemeClr val="accent2"/>
          </a:solidFill>
          <a:ln/>
        </p:spPr>
      </p:sp>
      <p:pic>
        <p:nvPicPr>
          <p:cNvPr id="18" name="Done check M3" descr="done">    </p:cNvPr>
          <p:cNvPicPr>
            <a:picLocks noChangeAspect="1"/>
          </p:cNvPicPr>
          <p:nvPr/>
        </p:nvPicPr>
        <p:blipFill>
          <a:blip r:embed="rId4"/>
          <a:stretch>
            <a:fillRect/>
          </a:stretch>
        </p:blipFill>
        <p:spPr>
          <a:xfrm>
            <a:off x="5219567" y="2468880"/>
            <a:ext cx="365760" cy="365760"/>
          </a:xfrm>
          <a:prstGeom prst="rect">
            <a:avLst/>
          </a:prstGeom>
        </p:spPr>
      </p:pic>
      <p:sp>
        <p:nvSpPr>
          <p:cNvPr id="19" name="Milestone name M3"/>
          <p:cNvSpPr txBox="1"/>
          <p:nvPr/>
        </p:nvSpPr>
        <p:spPr>
          <a:xfrm>
            <a:off x="4754766"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M3  Statistics and reports</a:t>
            </a:r>
            <a:endParaRPr lang="en-US" sz="1400" dirty="0"/>
          </a:p>
        </p:txBody>
      </p:sp>
      <p:sp>
        <p:nvSpPr>
          <p:cNvPr id="20" name="Milestone M4"/>
          <p:cNvSpPr/>
          <p:nvPr/>
        </p:nvSpPr>
        <p:spPr>
          <a:xfrm>
            <a:off x="6469209" y="2331720"/>
            <a:ext cx="640080" cy="640080"/>
          </a:xfrm>
          <a:prstGeom prst="ellipse">
            <a:avLst/>
          </a:prstGeom>
          <a:solidFill>
            <a:schemeClr val="accent1"/>
          </a:solidFill>
          <a:ln/>
        </p:spPr>
      </p:sp>
      <p:sp>
        <p:nvSpPr>
          <p:cNvPr id="21" name="Milestone label M4"/>
          <p:cNvSpPr txBox="1"/>
          <p:nvPr/>
        </p:nvSpPr>
        <p:spPr>
          <a:xfrm>
            <a:off x="6469209" y="2331720"/>
            <a:ext cx="640080" cy="64008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M4</a:t>
            </a:r>
            <a:endParaRPr lang="en-US" sz="1400" dirty="0"/>
          </a:p>
        </p:txBody>
      </p:sp>
      <p:sp>
        <p:nvSpPr>
          <p:cNvPr id="22" name="Milestone name M4"/>
          <p:cNvSpPr txBox="1"/>
          <p:nvPr/>
        </p:nvSpPr>
        <p:spPr>
          <a:xfrm>
            <a:off x="6141568"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M4  Baseline campaign</a:t>
            </a:r>
            <a:endParaRPr lang="en-US" sz="1400" dirty="0"/>
          </a:p>
        </p:txBody>
      </p:sp>
      <p:sp>
        <p:nvSpPr>
          <p:cNvPr id="23" name="Milestone M5"/>
          <p:cNvSpPr/>
          <p:nvPr/>
        </p:nvSpPr>
        <p:spPr>
          <a:xfrm>
            <a:off x="7856010" y="2331720"/>
            <a:ext cx="640080" cy="640080"/>
          </a:xfrm>
          <a:prstGeom prst="ellipse">
            <a:avLst/>
          </a:prstGeom>
          <a:solidFill>
            <a:srgbClr val="FFFFFF"/>
          </a:solidFill>
          <a:ln w="25400">
            <a:solidFill>
              <a:srgbClr val="9AA7AF"/>
            </a:solidFill>
            <a:prstDash val="solid"/>
          </a:ln>
        </p:spPr>
      </p:sp>
      <p:sp>
        <p:nvSpPr>
          <p:cNvPr id="24" name="Milestone label M5"/>
          <p:cNvSpPr txBox="1"/>
          <p:nvPr/>
        </p:nvSpPr>
        <p:spPr>
          <a:xfrm>
            <a:off x="7856010" y="2331720"/>
            <a:ext cx="640080" cy="640080"/>
          </a:xfrm>
          <a:prstGeom prst="rect">
            <a:avLst/>
          </a:prstGeom>
          <a:noFill/>
          <a:ln/>
        </p:spPr>
        <p:txBody>
          <a:bodyPr wrap="square" lIns="0" tIns="0" rIns="0" bIns="0" rtlCol="0" anchor="ctr"/>
          <a:lstStyle/>
          <a:p>
            <a:pPr algn="ctr" indent="0" marL="0">
              <a:buNone/>
            </a:pPr>
            <a:r>
              <a:rPr lang="en-US" sz="1400" b="1" dirty="0">
                <a:solidFill>
                  <a:schemeClr val="accent3"/>
                </a:solidFill>
                <a:latin typeface="Calibri" pitchFamily="34" charset="0"/>
                <a:ea typeface="Calibri" pitchFamily="34" charset="-122"/>
                <a:cs typeface="Calibri" pitchFamily="34" charset="-120"/>
              </a:rPr>
              <a:t>M5</a:t>
            </a:r>
            <a:endParaRPr lang="en-US" sz="1400" dirty="0"/>
          </a:p>
        </p:txBody>
      </p:sp>
      <p:sp>
        <p:nvSpPr>
          <p:cNvPr id="25" name="Milestone name M5"/>
          <p:cNvSpPr txBox="1"/>
          <p:nvPr/>
        </p:nvSpPr>
        <p:spPr>
          <a:xfrm>
            <a:off x="7528370"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M5  Experiments</a:t>
            </a:r>
            <a:endParaRPr lang="en-US" sz="1400" dirty="0"/>
          </a:p>
        </p:txBody>
      </p:sp>
      <p:sp>
        <p:nvSpPr>
          <p:cNvPr id="26" name="Milestone M6"/>
          <p:cNvSpPr/>
          <p:nvPr/>
        </p:nvSpPr>
        <p:spPr>
          <a:xfrm>
            <a:off x="9242812" y="2331720"/>
            <a:ext cx="640080" cy="640080"/>
          </a:xfrm>
          <a:prstGeom prst="ellipse">
            <a:avLst/>
          </a:prstGeom>
          <a:solidFill>
            <a:srgbClr val="FFFFFF"/>
          </a:solidFill>
          <a:ln w="25400">
            <a:solidFill>
              <a:srgbClr val="9AA7AF"/>
            </a:solidFill>
            <a:prstDash val="solid"/>
          </a:ln>
        </p:spPr>
      </p:sp>
      <p:sp>
        <p:nvSpPr>
          <p:cNvPr id="27" name="Milestone label M6"/>
          <p:cNvSpPr txBox="1"/>
          <p:nvPr/>
        </p:nvSpPr>
        <p:spPr>
          <a:xfrm>
            <a:off x="9242812" y="2331720"/>
            <a:ext cx="640080" cy="640080"/>
          </a:xfrm>
          <a:prstGeom prst="rect">
            <a:avLst/>
          </a:prstGeom>
          <a:noFill/>
          <a:ln/>
        </p:spPr>
        <p:txBody>
          <a:bodyPr wrap="square" lIns="0" tIns="0" rIns="0" bIns="0" rtlCol="0" anchor="ctr"/>
          <a:lstStyle/>
          <a:p>
            <a:pPr algn="ctr" indent="0" marL="0">
              <a:buNone/>
            </a:pPr>
            <a:r>
              <a:rPr lang="en-US" sz="1400" b="1" dirty="0">
                <a:solidFill>
                  <a:schemeClr val="accent3"/>
                </a:solidFill>
                <a:latin typeface="Calibri" pitchFamily="34" charset="0"/>
                <a:ea typeface="Calibri" pitchFamily="34" charset="-122"/>
                <a:cs typeface="Calibri" pitchFamily="34" charset="-120"/>
              </a:rPr>
              <a:t>M6</a:t>
            </a:r>
            <a:endParaRPr lang="en-US" sz="1400" dirty="0"/>
          </a:p>
        </p:txBody>
      </p:sp>
      <p:sp>
        <p:nvSpPr>
          <p:cNvPr id="28" name="Milestone name M6"/>
          <p:cNvSpPr txBox="1"/>
          <p:nvPr/>
        </p:nvSpPr>
        <p:spPr>
          <a:xfrm>
            <a:off x="8915171"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M6  Citation checker</a:t>
            </a:r>
            <a:endParaRPr lang="en-US" sz="1400" dirty="0"/>
          </a:p>
        </p:txBody>
      </p:sp>
      <p:sp>
        <p:nvSpPr>
          <p:cNvPr id="29" name="Milestone M7"/>
          <p:cNvSpPr/>
          <p:nvPr/>
        </p:nvSpPr>
        <p:spPr>
          <a:xfrm>
            <a:off x="10629614" y="2331720"/>
            <a:ext cx="640080" cy="640080"/>
          </a:xfrm>
          <a:prstGeom prst="ellipse">
            <a:avLst/>
          </a:prstGeom>
          <a:solidFill>
            <a:srgbClr val="FFFFFF"/>
          </a:solidFill>
          <a:ln w="25400">
            <a:solidFill>
              <a:srgbClr val="9AA7AF"/>
            </a:solidFill>
            <a:prstDash val="solid"/>
          </a:ln>
        </p:spPr>
      </p:sp>
      <p:sp>
        <p:nvSpPr>
          <p:cNvPr id="30" name="Milestone label M7"/>
          <p:cNvSpPr txBox="1"/>
          <p:nvPr/>
        </p:nvSpPr>
        <p:spPr>
          <a:xfrm>
            <a:off x="10629614" y="2331720"/>
            <a:ext cx="640080" cy="640080"/>
          </a:xfrm>
          <a:prstGeom prst="rect">
            <a:avLst/>
          </a:prstGeom>
          <a:noFill/>
          <a:ln/>
        </p:spPr>
        <p:txBody>
          <a:bodyPr wrap="square" lIns="0" tIns="0" rIns="0" bIns="0" rtlCol="0" anchor="ctr"/>
          <a:lstStyle/>
          <a:p>
            <a:pPr algn="ctr" indent="0" marL="0">
              <a:buNone/>
            </a:pPr>
            <a:r>
              <a:rPr lang="en-US" sz="1400" b="1" dirty="0">
                <a:solidFill>
                  <a:schemeClr val="accent3"/>
                </a:solidFill>
                <a:latin typeface="Calibri" pitchFamily="34" charset="0"/>
                <a:ea typeface="Calibri" pitchFamily="34" charset="-122"/>
                <a:cs typeface="Calibri" pitchFamily="34" charset="-120"/>
              </a:rPr>
              <a:t>M7</a:t>
            </a:r>
            <a:endParaRPr lang="en-US" sz="1400" dirty="0"/>
          </a:p>
        </p:txBody>
      </p:sp>
      <p:sp>
        <p:nvSpPr>
          <p:cNvPr id="31" name="Milestone name M7"/>
          <p:cNvSpPr txBox="1"/>
          <p:nvPr/>
        </p:nvSpPr>
        <p:spPr>
          <a:xfrm>
            <a:off x="10301973" y="3108960"/>
            <a:ext cx="1295362" cy="86868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M7  Write-up</a:t>
            </a:r>
            <a:endParaRPr lang="en-US" sz="1400" dirty="0"/>
          </a:p>
        </p:txBody>
      </p:sp>
      <p:sp>
        <p:nvSpPr>
          <p:cNvPr id="32" name="Status card 1"/>
          <p:cNvSpPr/>
          <p:nvPr/>
        </p:nvSpPr>
        <p:spPr>
          <a:xfrm>
            <a:off x="548640" y="4206240"/>
            <a:ext cx="5364328" cy="1965960"/>
          </a:xfrm>
          <a:prstGeom prst="roundRect">
            <a:avLst>
              <a:gd name="adj" fmla="val 4651"/>
            </a:avLst>
          </a:prstGeom>
          <a:solidFill>
            <a:schemeClr val="bg2"/>
          </a:solidFill>
          <a:ln/>
        </p:spPr>
      </p:sp>
      <p:sp>
        <p:nvSpPr>
          <p:cNvPr id="33" name="Text 27"/>
          <p:cNvSpPr txBox="1"/>
          <p:nvPr/>
        </p:nvSpPr>
        <p:spPr>
          <a:xfrm>
            <a:off x="868680" y="4389120"/>
            <a:ext cx="4724248"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M0 to M3 delivered</a:t>
            </a:r>
            <a:endParaRPr lang="en-US" sz="1800" dirty="0"/>
          </a:p>
        </p:txBody>
      </p:sp>
      <p:sp>
        <p:nvSpPr>
          <p:cNvPr id="34" name="Text 28"/>
          <p:cNvSpPr txBox="1"/>
          <p:nvPr/>
        </p:nvSpPr>
        <p:spPr>
          <a:xfrm>
            <a:off x="868680" y="4846320"/>
            <a:ext cx="472424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14-task suite with automatic checks, a repeatable test runner, GPU and timing measurements, statistics, report generator, and a replay mode that re-derives every result.</a:t>
            </a:r>
            <a:endParaRPr lang="en-US" sz="1400" dirty="0"/>
          </a:p>
        </p:txBody>
      </p:sp>
      <p:sp>
        <p:nvSpPr>
          <p:cNvPr id="35" name="Status card 2"/>
          <p:cNvSpPr/>
          <p:nvPr/>
        </p:nvSpPr>
        <p:spPr>
          <a:xfrm>
            <a:off x="6278728" y="4206240"/>
            <a:ext cx="5364328" cy="1965960"/>
          </a:xfrm>
          <a:prstGeom prst="roundRect">
            <a:avLst>
              <a:gd name="adj" fmla="val 4651"/>
            </a:avLst>
          </a:prstGeom>
          <a:solidFill>
            <a:schemeClr val="bg2"/>
          </a:solidFill>
          <a:ln/>
        </p:spPr>
      </p:sp>
      <p:sp>
        <p:nvSpPr>
          <p:cNvPr id="36" name="Text 30"/>
          <p:cNvSpPr txBox="1"/>
          <p:nvPr/>
        </p:nvSpPr>
        <p:spPr>
          <a:xfrm>
            <a:off x="6598768" y="4389120"/>
            <a:ext cx="4724248"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M4.1 done, M4.2 next</a:t>
            </a:r>
            <a:endParaRPr lang="en-US" sz="1800" dirty="0"/>
          </a:p>
        </p:txBody>
      </p:sp>
      <p:sp>
        <p:nvSpPr>
          <p:cNvPr id="37" name="Text 31"/>
          <p:cNvSpPr txBox="1"/>
          <p:nvPr/>
        </p:nvSpPr>
        <p:spPr>
          <a:xfrm>
            <a:off x="6598768" y="4846320"/>
            <a:ext cx="4724248"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whole suite ran 10 times per task, twice (336 runs). Removing a leaked block from the prompt made runs about 42% faster. Next: repeat with a smaller memory window (16k).</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the baseline shows</a:t>
            </a:r>
            <a:endParaRPr lang="en-US" sz="3400" dirty="0"/>
          </a:p>
        </p:txBody>
      </p:sp>
      <p:sp>
        <p:nvSpPr>
          <p:cNvPr id="3" name="Time chart title"/>
          <p:cNvSpPr txBox="1"/>
          <p:nvPr/>
        </p:nvSpPr>
        <p:spPr>
          <a:xfrm>
            <a:off x="548640" y="1325880"/>
            <a:ext cx="5364328"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Where the time goes, by task type</a:t>
            </a:r>
            <a:endParaRPr lang="en-US" sz="1600" dirty="0"/>
          </a:p>
        </p:txBody>
      </p:sp>
      <p:graphicFrame>
        <p:nvGraphicFramePr>
          <p:cNvPr id="4" name="Chart 0" descr=""/>
          <p:cNvGraphicFramePr/>
          <p:nvPr/>
        </p:nvGraphicFramePr>
        <p:xfrm>
          <a:off x="548640" y="1691640"/>
          <a:ext cx="5364328" cy="3429000"/>
        </p:xfrm>
        <a:graphic xmlns:a="http://schemas.openxmlformats.org/drawingml/2006/main">
          <a:graphicData uri="http://schemas.openxmlformats.org/drawingml/2006/chart">
            <c:chart xmlns:c="http://schemas.openxmlformats.org/drawingml/2006/chart" r:id="rId1"/>
          </a:graphicData>
        </a:graphic>
      </p:graphicFrame>
      <p:sp>
        <p:nvSpPr>
          <p:cNvPr id="5" name="Pass chart title"/>
          <p:cNvSpPr txBox="1"/>
          <p:nvPr/>
        </p:nvSpPr>
        <p:spPr>
          <a:xfrm>
            <a:off x="6278728" y="1325880"/>
            <a:ext cx="5364328"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Passed out of 10 runs, per task</a:t>
            </a:r>
            <a:endParaRPr lang="en-US" sz="1600" dirty="0"/>
          </a:p>
        </p:txBody>
      </p:sp>
      <p:graphicFrame>
        <p:nvGraphicFramePr>
          <p:cNvPr id="6" name="Chart 1" descr=""/>
          <p:cNvGraphicFramePr/>
          <p:nvPr/>
        </p:nvGraphicFramePr>
        <p:xfrm>
          <a:off x="6278728" y="1691640"/>
          <a:ext cx="5364328" cy="3429000"/>
        </p:xfrm>
        <a:graphic xmlns:a="http://schemas.openxmlformats.org/drawingml/2006/main">
          <a:graphicData uri="http://schemas.openxmlformats.org/drawingml/2006/chart">
            <c:chart xmlns:c="http://schemas.openxmlformats.org/drawingml/2006/chart" r:id="rId2"/>
          </a:graphicData>
        </a:graphic>
      </p:graphicFrame>
      <p:sp>
        <p:nvSpPr>
          <p:cNvPr id="7" name="Stat card 1"/>
          <p:cNvSpPr/>
          <p:nvPr/>
        </p:nvSpPr>
        <p:spPr>
          <a:xfrm>
            <a:off x="548640" y="5257800"/>
            <a:ext cx="3515258" cy="1005840"/>
          </a:xfrm>
          <a:prstGeom prst="roundRect">
            <a:avLst>
              <a:gd name="adj" fmla="val 9091"/>
            </a:avLst>
          </a:prstGeom>
          <a:solidFill>
            <a:schemeClr val="bg2"/>
          </a:solidFill>
          <a:ln/>
        </p:spPr>
      </p:sp>
      <p:sp>
        <p:nvSpPr>
          <p:cNvPr id="8" name="Stat 1"/>
          <p:cNvSpPr txBox="1"/>
          <p:nvPr/>
        </p:nvSpPr>
        <p:spPr>
          <a:xfrm>
            <a:off x="731520" y="5257800"/>
            <a:ext cx="1234440" cy="1005840"/>
          </a:xfrm>
          <a:prstGeom prst="rect">
            <a:avLst/>
          </a:prstGeom>
          <a:noFill/>
          <a:ln/>
        </p:spPr>
        <p:txBody>
          <a:bodyPr wrap="square" lIns="0" tIns="0" rIns="0" bIns="0" rtlCol="0" anchor="ctr"/>
          <a:lstStyle/>
          <a:p>
            <a:pPr indent="0" marL="0">
              <a:buNone/>
            </a:pPr>
            <a:r>
              <a:rPr lang="en-US" sz="3200" b="1" dirty="0">
                <a:solidFill>
                  <a:schemeClr val="accent6"/>
                </a:solidFill>
                <a:latin typeface="Cambria" pitchFamily="34" charset="0"/>
                <a:ea typeface="Cambria" pitchFamily="34" charset="-122"/>
                <a:cs typeface="Cambria" pitchFamily="34" charset="-120"/>
              </a:rPr>
              <a:t>42%</a:t>
            </a:r>
            <a:endParaRPr lang="en-US" sz="3200" dirty="0"/>
          </a:p>
        </p:txBody>
      </p:sp>
      <p:sp>
        <p:nvSpPr>
          <p:cNvPr id="9" name="Stat text 1"/>
          <p:cNvSpPr txBox="1"/>
          <p:nvPr/>
        </p:nvSpPr>
        <p:spPr>
          <a:xfrm>
            <a:off x="1965960" y="5303520"/>
            <a:ext cx="1960778"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faster per run once a block of personal setup was removed from the prompt. Success is unchanged within noise (71% vs 74%).</a:t>
            </a:r>
            <a:endParaRPr lang="en-US" sz="1200" dirty="0"/>
          </a:p>
        </p:txBody>
      </p:sp>
      <p:sp>
        <p:nvSpPr>
          <p:cNvPr id="10" name="Stat card 2"/>
          <p:cNvSpPr/>
          <p:nvPr/>
        </p:nvSpPr>
        <p:spPr>
          <a:xfrm>
            <a:off x="4338218" y="5257800"/>
            <a:ext cx="3515258" cy="1005840"/>
          </a:xfrm>
          <a:prstGeom prst="roundRect">
            <a:avLst>
              <a:gd name="adj" fmla="val 9091"/>
            </a:avLst>
          </a:prstGeom>
          <a:solidFill>
            <a:schemeClr val="bg2"/>
          </a:solidFill>
          <a:ln/>
        </p:spPr>
      </p:sp>
      <p:sp>
        <p:nvSpPr>
          <p:cNvPr id="11" name="Stat 2"/>
          <p:cNvSpPr txBox="1"/>
          <p:nvPr/>
        </p:nvSpPr>
        <p:spPr>
          <a:xfrm>
            <a:off x="4521098" y="5257800"/>
            <a:ext cx="1234440" cy="1005840"/>
          </a:xfrm>
          <a:prstGeom prst="rect">
            <a:avLst/>
          </a:prstGeom>
          <a:noFill/>
          <a:ln/>
        </p:spPr>
        <p:txBody>
          <a:bodyPr wrap="square" lIns="0" tIns="0" rIns="0" bIns="0" rtlCol="0" anchor="ctr"/>
          <a:lstStyle/>
          <a:p>
            <a:pPr indent="0" marL="0">
              <a:buNone/>
            </a:pPr>
            <a:r>
              <a:rPr lang="en-US" sz="3200" b="1" dirty="0">
                <a:solidFill>
                  <a:schemeClr val="accent6"/>
                </a:solidFill>
                <a:latin typeface="Cambria" pitchFamily="34" charset="0"/>
                <a:ea typeface="Cambria" pitchFamily="34" charset="-122"/>
                <a:cs typeface="Cambria" pitchFamily="34" charset="-120"/>
              </a:rPr>
              <a:t>60%</a:t>
            </a:r>
            <a:endParaRPr lang="en-US" sz="3200" dirty="0"/>
          </a:p>
        </p:txBody>
      </p:sp>
      <p:sp>
        <p:nvSpPr>
          <p:cNvPr id="12" name="Stat text 2"/>
          <p:cNvSpPr txBox="1"/>
          <p:nvPr/>
        </p:nvSpPr>
        <p:spPr>
          <a:xfrm>
            <a:off x="5755538" y="5303520"/>
            <a:ext cx="1960778"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of the time is now the model writing answers. Reading its instructions fell from 54% to 33%.</a:t>
            </a:r>
            <a:endParaRPr lang="en-US" sz="1200" dirty="0"/>
          </a:p>
        </p:txBody>
      </p:sp>
      <p:sp>
        <p:nvSpPr>
          <p:cNvPr id="13" name="Stat card 3"/>
          <p:cNvSpPr/>
          <p:nvPr/>
        </p:nvSpPr>
        <p:spPr>
          <a:xfrm>
            <a:off x="8127797" y="5257800"/>
            <a:ext cx="3515258" cy="1005840"/>
          </a:xfrm>
          <a:prstGeom prst="roundRect">
            <a:avLst>
              <a:gd name="adj" fmla="val 9091"/>
            </a:avLst>
          </a:prstGeom>
          <a:solidFill>
            <a:schemeClr val="bg2"/>
          </a:solidFill>
          <a:ln/>
        </p:spPr>
      </p:sp>
      <p:sp>
        <p:nvSpPr>
          <p:cNvPr id="14" name="Stat 3"/>
          <p:cNvSpPr txBox="1"/>
          <p:nvPr/>
        </p:nvSpPr>
        <p:spPr>
          <a:xfrm>
            <a:off x="8310677" y="5257800"/>
            <a:ext cx="1234440" cy="1005840"/>
          </a:xfrm>
          <a:prstGeom prst="rect">
            <a:avLst/>
          </a:prstGeom>
          <a:noFill/>
          <a:ln/>
        </p:spPr>
        <p:txBody>
          <a:bodyPr wrap="square" lIns="0" tIns="0" rIns="0" bIns="0" rtlCol="0" anchor="ctr"/>
          <a:lstStyle/>
          <a:p>
            <a:pPr indent="0" marL="0">
              <a:buNone/>
            </a:pPr>
            <a:r>
              <a:rPr lang="en-US" sz="3200" b="1" dirty="0">
                <a:solidFill>
                  <a:schemeClr val="accent6"/>
                </a:solidFill>
                <a:latin typeface="Cambria" pitchFamily="34" charset="0"/>
                <a:ea typeface="Cambria" pitchFamily="34" charset="-122"/>
                <a:cs typeface="Cambria" pitchFamily="34" charset="-120"/>
              </a:rPr>
              <a:t>71%</a:t>
            </a:r>
            <a:endParaRPr lang="en-US" sz="3200" dirty="0"/>
          </a:p>
        </p:txBody>
      </p:sp>
      <p:sp>
        <p:nvSpPr>
          <p:cNvPr id="15" name="Stat text 3"/>
          <p:cNvSpPr txBox="1"/>
          <p:nvPr/>
        </p:nvSpPr>
        <p:spPr>
          <a:xfrm>
            <a:off x="9545117" y="5303520"/>
            <a:ext cx="1960778" cy="9144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of runs passed overall (99 of 140). Only 4 of 14 tasks passed every time.</a:t>
            </a:r>
            <a:endParaRPr lang="en-US" sz="12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happens next</a:t>
            </a:r>
            <a:endParaRPr lang="en-US" sz="3400" dirty="0"/>
          </a:p>
        </p:txBody>
      </p:sp>
      <p:sp>
        <p:nvSpPr>
          <p:cNvPr id="3" name="Next card M4"/>
          <p:cNvSpPr/>
          <p:nvPr/>
        </p:nvSpPr>
        <p:spPr>
          <a:xfrm>
            <a:off x="548640" y="1508760"/>
            <a:ext cx="2567864" cy="4114800"/>
          </a:xfrm>
          <a:prstGeom prst="roundRect">
            <a:avLst>
              <a:gd name="adj" fmla="val 3561"/>
            </a:avLst>
          </a:prstGeom>
          <a:solidFill>
            <a:schemeClr val="accent1"/>
          </a:solidFill>
          <a:ln/>
        </p:spPr>
      </p:sp>
      <p:sp>
        <p:nvSpPr>
          <p:cNvPr id="4" name="Next id M4"/>
          <p:cNvSpPr txBox="1"/>
          <p:nvPr/>
        </p:nvSpPr>
        <p:spPr>
          <a:xfrm>
            <a:off x="822960" y="1691640"/>
            <a:ext cx="201922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M4</a:t>
            </a:r>
            <a:endParaRPr lang="en-US" sz="3200" dirty="0"/>
          </a:p>
        </p:txBody>
      </p:sp>
      <p:sp>
        <p:nvSpPr>
          <p:cNvPr id="5" name="Next name M4"/>
          <p:cNvSpPr txBox="1"/>
          <p:nvPr/>
        </p:nvSpPr>
        <p:spPr>
          <a:xfrm>
            <a:off x="822960" y="2286000"/>
            <a:ext cx="2019224"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Baseline runs</a:t>
            </a:r>
            <a:endParaRPr lang="en-US" sz="1800" dirty="0"/>
          </a:p>
        </p:txBody>
      </p:sp>
      <p:sp>
        <p:nvSpPr>
          <p:cNvPr id="6" name="Next time M4"/>
          <p:cNvSpPr txBox="1"/>
          <p:nvPr/>
        </p:nvSpPr>
        <p:spPr>
          <a:xfrm>
            <a:off x="822960" y="2697480"/>
            <a:ext cx="2019224" cy="502920"/>
          </a:xfrm>
          <a:prstGeom prst="rect">
            <a:avLst/>
          </a:prstGeom>
          <a:noFill/>
          <a:ln/>
        </p:spPr>
        <p:txBody>
          <a:bodyPr wrap="square" lIns="0" tIns="0" rIns="0" bIns="0" rtlCol="0" anchor="t"/>
          <a:lstStyle/>
          <a:p>
            <a:pPr indent="0" marL="0">
              <a:buNone/>
            </a:pPr>
            <a:r>
              <a:rPr lang="en-US" sz="1400" i="1" dirty="0">
                <a:solidFill>
                  <a:schemeClr val="tx1"/>
                </a:solidFill>
                <a:latin typeface="Calibri" pitchFamily="34" charset="0"/>
                <a:ea typeface="Calibri" pitchFamily="34" charset="-122"/>
                <a:cs typeface="Calibri" pitchFamily="34" charset="-120"/>
              </a:rPr>
              <a:t>first run done; 16k run about 5 hours</a:t>
            </a:r>
            <a:endParaRPr lang="en-US" sz="1400" dirty="0"/>
          </a:p>
        </p:txBody>
      </p:sp>
      <p:sp>
        <p:nvSpPr>
          <p:cNvPr id="7" name="Next list M4"/>
          <p:cNvSpPr txBox="1"/>
          <p:nvPr/>
        </p:nvSpPr>
        <p:spPr>
          <a:xfrm>
            <a:off x="822960" y="3291840"/>
            <a:ext cx="2064944"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Done: whole suite, 10 repeats per task</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Next: re-check the earlier 16k vs 32k finding</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Time breakdown per task type (done for 32k)</a:t>
            </a:r>
            <a:endParaRPr lang="en-US" sz="1400" dirty="0"/>
          </a:p>
        </p:txBody>
      </p:sp>
      <p:sp>
        <p:nvSpPr>
          <p:cNvPr id="8" name="Next card M5"/>
          <p:cNvSpPr/>
          <p:nvPr/>
        </p:nvSpPr>
        <p:spPr>
          <a:xfrm>
            <a:off x="3390824" y="1508760"/>
            <a:ext cx="2567864" cy="4114800"/>
          </a:xfrm>
          <a:prstGeom prst="roundRect">
            <a:avLst>
              <a:gd name="adj" fmla="val 3561"/>
            </a:avLst>
          </a:prstGeom>
          <a:solidFill>
            <a:schemeClr val="bg2"/>
          </a:solidFill>
          <a:ln/>
        </p:spPr>
      </p:sp>
      <p:sp>
        <p:nvSpPr>
          <p:cNvPr id="9" name="Next id M5"/>
          <p:cNvSpPr txBox="1"/>
          <p:nvPr/>
        </p:nvSpPr>
        <p:spPr>
          <a:xfrm>
            <a:off x="3665144" y="1691640"/>
            <a:ext cx="201922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M5</a:t>
            </a:r>
            <a:endParaRPr lang="en-US" sz="3200" dirty="0"/>
          </a:p>
        </p:txBody>
      </p:sp>
      <p:sp>
        <p:nvSpPr>
          <p:cNvPr id="10" name="Next name M5"/>
          <p:cNvSpPr txBox="1"/>
          <p:nvPr/>
        </p:nvSpPr>
        <p:spPr>
          <a:xfrm>
            <a:off x="3665144" y="2286000"/>
            <a:ext cx="2019224"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Experiments</a:t>
            </a:r>
            <a:endParaRPr lang="en-US" sz="1800" dirty="0"/>
          </a:p>
        </p:txBody>
      </p:sp>
      <p:sp>
        <p:nvSpPr>
          <p:cNvPr id="11" name="Next time M5"/>
          <p:cNvSpPr txBox="1"/>
          <p:nvPr/>
        </p:nvSpPr>
        <p:spPr>
          <a:xfrm>
            <a:off x="3665144" y="2697480"/>
            <a:ext cx="2019224" cy="50292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7 to 8 days</a:t>
            </a:r>
            <a:endParaRPr lang="en-US" sz="1400" dirty="0"/>
          </a:p>
        </p:txBody>
      </p:sp>
      <p:sp>
        <p:nvSpPr>
          <p:cNvPr id="12" name="Next list M5"/>
          <p:cNvSpPr txBox="1"/>
          <p:nvPr/>
        </p:nvSpPr>
        <p:spPr>
          <a:xfrm>
            <a:off x="3665144" y="3291840"/>
            <a:ext cx="2064944"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Memory size of the context window</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Shorter agent instructions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Faster answering with a draft model</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 second model, task-specific agents</a:t>
            </a:r>
            <a:endParaRPr lang="en-US" sz="1400" dirty="0"/>
          </a:p>
        </p:txBody>
      </p:sp>
      <p:sp>
        <p:nvSpPr>
          <p:cNvPr id="13" name="Next card M6"/>
          <p:cNvSpPr/>
          <p:nvPr/>
        </p:nvSpPr>
        <p:spPr>
          <a:xfrm>
            <a:off x="6233008" y="1508760"/>
            <a:ext cx="2567864" cy="4114800"/>
          </a:xfrm>
          <a:prstGeom prst="roundRect">
            <a:avLst>
              <a:gd name="adj" fmla="val 3561"/>
            </a:avLst>
          </a:prstGeom>
          <a:solidFill>
            <a:schemeClr val="bg2"/>
          </a:solidFill>
          <a:ln/>
        </p:spPr>
      </p:sp>
      <p:sp>
        <p:nvSpPr>
          <p:cNvPr id="14" name="Next id M6"/>
          <p:cNvSpPr txBox="1"/>
          <p:nvPr/>
        </p:nvSpPr>
        <p:spPr>
          <a:xfrm>
            <a:off x="6507328" y="1691640"/>
            <a:ext cx="201922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M6</a:t>
            </a:r>
            <a:endParaRPr lang="en-US" sz="3200" dirty="0"/>
          </a:p>
        </p:txBody>
      </p:sp>
      <p:sp>
        <p:nvSpPr>
          <p:cNvPr id="15" name="Next name M6"/>
          <p:cNvSpPr txBox="1"/>
          <p:nvPr/>
        </p:nvSpPr>
        <p:spPr>
          <a:xfrm>
            <a:off x="6507328" y="2286000"/>
            <a:ext cx="2019224"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Citation checker</a:t>
            </a:r>
            <a:endParaRPr lang="en-US" sz="1800" dirty="0"/>
          </a:p>
        </p:txBody>
      </p:sp>
      <p:sp>
        <p:nvSpPr>
          <p:cNvPr id="16" name="Next time M6"/>
          <p:cNvSpPr txBox="1"/>
          <p:nvPr/>
        </p:nvSpPr>
        <p:spPr>
          <a:xfrm>
            <a:off x="6507328" y="2697480"/>
            <a:ext cx="2019224" cy="50292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4 to 5 days</a:t>
            </a:r>
            <a:endParaRPr lang="en-US" sz="1400" dirty="0"/>
          </a:p>
        </p:txBody>
      </p:sp>
      <p:sp>
        <p:nvSpPr>
          <p:cNvPr id="17" name="Next list M6"/>
          <p:cNvSpPr txBox="1"/>
          <p:nvPr/>
        </p:nvSpPr>
        <p:spPr>
          <a:xfrm>
            <a:off x="6507328" y="3291840"/>
            <a:ext cx="2064944"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Automatic check of every cited study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Measure invented citations before and after</a:t>
            </a:r>
            <a:endParaRPr lang="en-US" sz="1400" dirty="0"/>
          </a:p>
        </p:txBody>
      </p:sp>
      <p:sp>
        <p:nvSpPr>
          <p:cNvPr id="18" name="Next card M7"/>
          <p:cNvSpPr/>
          <p:nvPr/>
        </p:nvSpPr>
        <p:spPr>
          <a:xfrm>
            <a:off x="9075191" y="1508760"/>
            <a:ext cx="2567864" cy="4114800"/>
          </a:xfrm>
          <a:prstGeom prst="roundRect">
            <a:avLst>
              <a:gd name="adj" fmla="val 3561"/>
            </a:avLst>
          </a:prstGeom>
          <a:solidFill>
            <a:schemeClr val="bg2"/>
          </a:solidFill>
          <a:ln/>
        </p:spPr>
      </p:sp>
      <p:sp>
        <p:nvSpPr>
          <p:cNvPr id="19" name="Next id M7"/>
          <p:cNvSpPr txBox="1"/>
          <p:nvPr/>
        </p:nvSpPr>
        <p:spPr>
          <a:xfrm>
            <a:off x="9349511" y="1691640"/>
            <a:ext cx="201922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M7</a:t>
            </a:r>
            <a:endParaRPr lang="en-US" sz="3200" dirty="0"/>
          </a:p>
        </p:txBody>
      </p:sp>
      <p:sp>
        <p:nvSpPr>
          <p:cNvPr id="20" name="Next name M7"/>
          <p:cNvSpPr txBox="1"/>
          <p:nvPr/>
        </p:nvSpPr>
        <p:spPr>
          <a:xfrm>
            <a:off x="9349511" y="2286000"/>
            <a:ext cx="2019224" cy="41148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Write-up</a:t>
            </a:r>
            <a:endParaRPr lang="en-US" sz="1800" dirty="0"/>
          </a:p>
        </p:txBody>
      </p:sp>
      <p:sp>
        <p:nvSpPr>
          <p:cNvPr id="21" name="Next time M7"/>
          <p:cNvSpPr txBox="1"/>
          <p:nvPr/>
        </p:nvSpPr>
        <p:spPr>
          <a:xfrm>
            <a:off x="9349511" y="2697480"/>
            <a:ext cx="2019224" cy="50292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3 to 4 days</a:t>
            </a:r>
            <a:endParaRPr lang="en-US" sz="1400" dirty="0"/>
          </a:p>
        </p:txBody>
      </p:sp>
      <p:sp>
        <p:nvSpPr>
          <p:cNvPr id="22" name="Next list M7"/>
          <p:cNvSpPr txBox="1"/>
          <p:nvPr/>
        </p:nvSpPr>
        <p:spPr>
          <a:xfrm>
            <a:off x="9349511" y="3291840"/>
            <a:ext cx="2064944"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README with the results first</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Slide deck</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Summary numbers for reuse</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“done” looks like</a:t>
            </a:r>
            <a:endParaRPr lang="en-US" sz="3400" dirty="0"/>
          </a:p>
        </p:txBody>
      </p:sp>
      <p:sp>
        <p:nvSpPr>
          <p:cNvPr id="3" name="Big number panel"/>
          <p:cNvSpPr/>
          <p:nvPr/>
        </p:nvSpPr>
        <p:spPr>
          <a:xfrm>
            <a:off x="548640" y="1508760"/>
            <a:ext cx="3931920" cy="4617720"/>
          </a:xfrm>
          <a:prstGeom prst="roundRect">
            <a:avLst>
              <a:gd name="adj" fmla="val 2791"/>
            </a:avLst>
          </a:prstGeom>
          <a:solidFill>
            <a:schemeClr val="tx2"/>
          </a:solidFill>
          <a:ln/>
        </p:spPr>
      </p:sp>
      <p:sp>
        <p:nvSpPr>
          <p:cNvPr id="4" name="Big number"/>
          <p:cNvSpPr txBox="1"/>
          <p:nvPr/>
        </p:nvSpPr>
        <p:spPr>
          <a:xfrm>
            <a:off x="822960" y="2103120"/>
            <a:ext cx="3383280"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14 × 10 × 6</a:t>
            </a:r>
            <a:endParaRPr lang="en-US" sz="4400" dirty="0"/>
          </a:p>
        </p:txBody>
      </p:sp>
      <p:sp>
        <p:nvSpPr>
          <p:cNvPr id="5" name="Big number label"/>
          <p:cNvSpPr txBox="1"/>
          <p:nvPr/>
        </p:nvSpPr>
        <p:spPr>
          <a:xfrm>
            <a:off x="822960" y="3063240"/>
            <a:ext cx="338328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tasks × repeats × configurations</a:t>
            </a:r>
            <a:endParaRPr lang="en-US" sz="1600" dirty="0"/>
          </a:p>
        </p:txBody>
      </p:sp>
      <p:sp>
        <p:nvSpPr>
          <p:cNvPr id="6" name="Big number note"/>
          <p:cNvSpPr txBox="1"/>
          <p:nvPr/>
        </p:nvSpPr>
        <p:spPr>
          <a:xfrm>
            <a:off x="822960" y="3657600"/>
            <a:ext cx="3383280" cy="822960"/>
          </a:xfrm>
          <a:prstGeom prst="rect">
            <a:avLst/>
          </a:prstGeom>
          <a:noFill/>
          <a:ln/>
        </p:spPr>
        <p:txBody>
          <a:bodyPr wrap="square" lIns="0" tIns="0" rIns="0" bIns="0" rtlCol="0" anchor="t"/>
          <a:lstStyle/>
          <a:p>
            <a:pPr algn="ctr" indent="0" marL="0">
              <a:buNone/>
            </a:pPr>
            <a:r>
              <a:rPr lang="en-US" sz="1400" dirty="0">
                <a:solidFill>
                  <a:srgbClr val="D5E0E4"/>
                </a:solidFill>
                <a:latin typeface="Calibri" pitchFamily="34" charset="0"/>
                <a:ea typeface="Calibri" pitchFamily="34" charset="-122"/>
                <a:cs typeface="Calibri" pitchFamily="34" charset="-120"/>
              </a:rPr>
              <a:t>about 840 measured runs, all with confidence ranges</a:t>
            </a:r>
            <a:endParaRPr lang="en-US" sz="1400" dirty="0"/>
          </a:p>
        </p:txBody>
      </p:sp>
      <p:sp>
        <p:nvSpPr>
          <p:cNvPr id="7" name="Criterion 1 circle"/>
          <p:cNvSpPr/>
          <p:nvPr/>
        </p:nvSpPr>
        <p:spPr>
          <a:xfrm>
            <a:off x="4846320" y="1618488"/>
            <a:ext cx="548640" cy="548640"/>
          </a:xfrm>
          <a:prstGeom prst="ellipse">
            <a:avLst/>
          </a:prstGeom>
          <a:solidFill>
            <a:schemeClr val="accent2"/>
          </a:solidFill>
          <a:ln/>
        </p:spPr>
      </p:sp>
      <p:pic>
        <p:nvPicPr>
          <p:cNvPr id="8" name="Criterion 1 icon" descr="Criterion 1 icon">    </p:cNvPr>
          <p:cNvPicPr>
            <a:picLocks noChangeAspect="1"/>
          </p:cNvPicPr>
          <p:nvPr/>
        </p:nvPicPr>
        <p:blipFill>
          <a:blip r:embed="rId1"/>
          <a:stretch>
            <a:fillRect/>
          </a:stretch>
        </p:blipFill>
        <p:spPr>
          <a:xfrm>
            <a:off x="4988966" y="1761134"/>
            <a:ext cx="263347" cy="263347"/>
          </a:xfrm>
          <a:prstGeom prst="rect">
            <a:avLst/>
          </a:prstGeom>
        </p:spPr>
      </p:pic>
      <p:sp>
        <p:nvSpPr>
          <p:cNvPr id="9" name="Text 6"/>
          <p:cNvSpPr txBox="1"/>
          <p:nvPr/>
        </p:nvSpPr>
        <p:spPr>
          <a:xfrm>
            <a:off x="5623560" y="1508760"/>
            <a:ext cx="598932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At least 2 changes proven to help, and at least 1 clear negative result with its cause</a:t>
            </a:r>
            <a:endParaRPr lang="en-US" sz="1600" dirty="0"/>
          </a:p>
        </p:txBody>
      </p:sp>
      <p:sp>
        <p:nvSpPr>
          <p:cNvPr id="10" name="Criterion 2 circle"/>
          <p:cNvSpPr/>
          <p:nvPr/>
        </p:nvSpPr>
        <p:spPr>
          <a:xfrm>
            <a:off x="4846320" y="2560320"/>
            <a:ext cx="548640" cy="548640"/>
          </a:xfrm>
          <a:prstGeom prst="ellipse">
            <a:avLst/>
          </a:prstGeom>
          <a:solidFill>
            <a:schemeClr val="accent2"/>
          </a:solidFill>
          <a:ln/>
        </p:spPr>
      </p:sp>
      <p:pic>
        <p:nvPicPr>
          <p:cNvPr id="11" name="Criterion 2 icon" descr="Criterion 2 icon">    </p:cNvPr>
          <p:cNvPicPr>
            <a:picLocks noChangeAspect="1"/>
          </p:cNvPicPr>
          <p:nvPr/>
        </p:nvPicPr>
        <p:blipFill>
          <a:blip r:embed="rId2"/>
          <a:stretch>
            <a:fillRect/>
          </a:stretch>
        </p:blipFill>
        <p:spPr>
          <a:xfrm>
            <a:off x="4988966" y="2702966"/>
            <a:ext cx="263347" cy="263347"/>
          </a:xfrm>
          <a:prstGeom prst="rect">
            <a:avLst/>
          </a:prstGeom>
        </p:spPr>
      </p:pic>
      <p:sp>
        <p:nvSpPr>
          <p:cNvPr id="12" name="Text 8"/>
          <p:cNvSpPr txBox="1"/>
          <p:nvPr/>
        </p:nvSpPr>
        <p:spPr>
          <a:xfrm>
            <a:off x="5623560" y="2450592"/>
            <a:ext cx="598932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Invented-citation rate measured on 20 or more research questions, with and without the checker</a:t>
            </a:r>
            <a:endParaRPr lang="en-US" sz="1600" dirty="0"/>
          </a:p>
        </p:txBody>
      </p:sp>
      <p:sp>
        <p:nvSpPr>
          <p:cNvPr id="13" name="Criterion 3 circle"/>
          <p:cNvSpPr/>
          <p:nvPr/>
        </p:nvSpPr>
        <p:spPr>
          <a:xfrm>
            <a:off x="4846320" y="3502152"/>
            <a:ext cx="548640" cy="548640"/>
          </a:xfrm>
          <a:prstGeom prst="ellipse">
            <a:avLst/>
          </a:prstGeom>
          <a:solidFill>
            <a:schemeClr val="accent2"/>
          </a:solidFill>
          <a:ln/>
        </p:spPr>
      </p:sp>
      <p:pic>
        <p:nvPicPr>
          <p:cNvPr id="14" name="Criterion 3 icon" descr="Criterion 3 icon">    </p:cNvPr>
          <p:cNvPicPr>
            <a:picLocks noChangeAspect="1"/>
          </p:cNvPicPr>
          <p:nvPr/>
        </p:nvPicPr>
        <p:blipFill>
          <a:blip r:embed="rId3"/>
          <a:stretch>
            <a:fillRect/>
          </a:stretch>
        </p:blipFill>
        <p:spPr>
          <a:xfrm>
            <a:off x="4988966" y="3644798"/>
            <a:ext cx="263347" cy="263347"/>
          </a:xfrm>
          <a:prstGeom prst="rect">
            <a:avLst/>
          </a:prstGeom>
        </p:spPr>
      </p:pic>
      <p:sp>
        <p:nvSpPr>
          <p:cNvPr id="15" name="Text 10"/>
          <p:cNvSpPr txBox="1"/>
          <p:nvPr/>
        </p:nvSpPr>
        <p:spPr>
          <a:xfrm>
            <a:off x="5623560" y="3392424"/>
            <a:ext cx="598932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One chart answering: what share of an agent's time is the GPU generating text?</a:t>
            </a:r>
            <a:endParaRPr lang="en-US" sz="1600" dirty="0"/>
          </a:p>
        </p:txBody>
      </p:sp>
      <p:sp>
        <p:nvSpPr>
          <p:cNvPr id="16" name="Criterion 4 circle"/>
          <p:cNvSpPr/>
          <p:nvPr/>
        </p:nvSpPr>
        <p:spPr>
          <a:xfrm>
            <a:off x="4846320" y="4443984"/>
            <a:ext cx="548640" cy="548640"/>
          </a:xfrm>
          <a:prstGeom prst="ellipse">
            <a:avLst/>
          </a:prstGeom>
          <a:solidFill>
            <a:schemeClr val="accent2"/>
          </a:solidFill>
          <a:ln/>
        </p:spPr>
      </p:sp>
      <p:pic>
        <p:nvPicPr>
          <p:cNvPr id="17" name="Criterion 4 icon" descr="Criterion 4 icon">    </p:cNvPr>
          <p:cNvPicPr>
            <a:picLocks noChangeAspect="1"/>
          </p:cNvPicPr>
          <p:nvPr/>
        </p:nvPicPr>
        <p:blipFill>
          <a:blip r:embed="rId4"/>
          <a:stretch>
            <a:fillRect/>
          </a:stretch>
        </p:blipFill>
        <p:spPr>
          <a:xfrm>
            <a:off x="4988966" y="4586630"/>
            <a:ext cx="263347" cy="263347"/>
          </a:xfrm>
          <a:prstGeom prst="rect">
            <a:avLst/>
          </a:prstGeom>
        </p:spPr>
      </p:pic>
      <p:sp>
        <p:nvSpPr>
          <p:cNvPr id="18" name="Text 12"/>
          <p:cNvSpPr txBox="1"/>
          <p:nvPr/>
        </p:nvSpPr>
        <p:spPr>
          <a:xfrm>
            <a:off x="5623560" y="4334256"/>
            <a:ext cx="598932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Measurement overhead shown to be under 5%</a:t>
            </a:r>
            <a:endParaRPr lang="en-US" sz="1600" dirty="0"/>
          </a:p>
        </p:txBody>
      </p:sp>
      <p:sp>
        <p:nvSpPr>
          <p:cNvPr id="19" name="Criterion 5 circle"/>
          <p:cNvSpPr/>
          <p:nvPr/>
        </p:nvSpPr>
        <p:spPr>
          <a:xfrm>
            <a:off x="4846320" y="5385816"/>
            <a:ext cx="548640" cy="548640"/>
          </a:xfrm>
          <a:prstGeom prst="ellipse">
            <a:avLst/>
          </a:prstGeom>
          <a:solidFill>
            <a:schemeClr val="accent2"/>
          </a:solidFill>
          <a:ln/>
        </p:spPr>
      </p:sp>
      <p:pic>
        <p:nvPicPr>
          <p:cNvPr id="20" name="Criterion 5 icon" descr="Criterion 5 icon">    </p:cNvPr>
          <p:cNvPicPr>
            <a:picLocks noChangeAspect="1"/>
          </p:cNvPicPr>
          <p:nvPr/>
        </p:nvPicPr>
        <p:blipFill>
          <a:blip r:embed="rId5"/>
          <a:stretch>
            <a:fillRect/>
          </a:stretch>
        </p:blipFill>
        <p:spPr>
          <a:xfrm>
            <a:off x="4988966" y="5528462"/>
            <a:ext cx="263347" cy="263347"/>
          </a:xfrm>
          <a:prstGeom prst="rect">
            <a:avLst/>
          </a:prstGeom>
        </p:spPr>
      </p:pic>
      <p:sp>
        <p:nvSpPr>
          <p:cNvPr id="21" name="Text 14"/>
          <p:cNvSpPr txBox="1"/>
          <p:nvPr/>
        </p:nvSpPr>
        <p:spPr>
          <a:xfrm>
            <a:off x="5623560" y="5276088"/>
            <a:ext cx="598932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Deck, README and summary numbers ready to share</a:t>
            </a:r>
            <a:endParaRPr lang="en-US" sz="16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Risks and decisions we need</a:t>
            </a:r>
            <a:endParaRPr lang="en-US" sz="3400" dirty="0"/>
          </a:p>
        </p:txBody>
      </p:sp>
      <p:sp>
        <p:nvSpPr>
          <p:cNvPr id="3" name="Risks heading"/>
          <p:cNvSpPr txBox="1"/>
          <p:nvPr/>
        </p:nvSpPr>
        <p:spPr>
          <a:xfrm>
            <a:off x="548640" y="1463040"/>
            <a:ext cx="5364328"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Risks</a:t>
            </a:r>
            <a:endParaRPr lang="en-US" sz="2200" dirty="0"/>
          </a:p>
        </p:txBody>
      </p:sp>
      <p:sp>
        <p:nvSpPr>
          <p:cNvPr id="4" name="Risk card 1"/>
          <p:cNvSpPr/>
          <p:nvPr/>
        </p:nvSpPr>
        <p:spPr>
          <a:xfrm>
            <a:off x="548640" y="1965960"/>
            <a:ext cx="5364328" cy="1234440"/>
          </a:xfrm>
          <a:prstGeom prst="roundRect">
            <a:avLst>
              <a:gd name="adj" fmla="val 7407"/>
            </a:avLst>
          </a:prstGeom>
          <a:solidFill>
            <a:schemeClr val="bg2"/>
          </a:solidFill>
          <a:ln/>
        </p:spPr>
      </p:sp>
      <p:sp>
        <p:nvSpPr>
          <p:cNvPr id="5" name="Risk 1 circle"/>
          <p:cNvSpPr/>
          <p:nvPr/>
        </p:nvSpPr>
        <p:spPr>
          <a:xfrm>
            <a:off x="777240" y="2331720"/>
            <a:ext cx="502920" cy="502920"/>
          </a:xfrm>
          <a:prstGeom prst="ellipse">
            <a:avLst/>
          </a:prstGeom>
          <a:solidFill>
            <a:schemeClr val="accent4"/>
          </a:solidFill>
          <a:ln/>
        </p:spPr>
      </p:sp>
      <p:pic>
        <p:nvPicPr>
          <p:cNvPr id="6" name="Risk 1 icon" descr="Risk 1 icon">    </p:cNvPr>
          <p:cNvPicPr>
            <a:picLocks noChangeAspect="1"/>
          </p:cNvPicPr>
          <p:nvPr/>
        </p:nvPicPr>
        <p:blipFill>
          <a:blip r:embed="rId1"/>
          <a:stretch>
            <a:fillRect/>
          </a:stretch>
        </p:blipFill>
        <p:spPr>
          <a:xfrm>
            <a:off x="907999" y="2462479"/>
            <a:ext cx="241402" cy="241402"/>
          </a:xfrm>
          <a:prstGeom prst="rect">
            <a:avLst/>
          </a:prstGeom>
        </p:spPr>
      </p:pic>
      <p:sp>
        <p:nvSpPr>
          <p:cNvPr id="7" name="Text 4"/>
          <p:cNvSpPr txBox="1"/>
          <p:nvPr/>
        </p:nvSpPr>
        <p:spPr>
          <a:xfrm>
            <a:off x="1508760" y="21031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Machine time</a:t>
            </a:r>
            <a:endParaRPr lang="en-US" sz="1600" dirty="0"/>
          </a:p>
        </p:txBody>
      </p:sp>
      <p:sp>
        <p:nvSpPr>
          <p:cNvPr id="8" name="Text 5"/>
          <p:cNvSpPr txBox="1"/>
          <p:nvPr/>
        </p:nvSpPr>
        <p:spPr>
          <a:xfrm>
            <a:off x="1508760" y="24688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10 repeats took about 4.3 hours for one setup; the full sweep is estimated at 25 hours of GPU time.</a:t>
            </a:r>
            <a:endParaRPr lang="en-US" sz="1400" dirty="0"/>
          </a:p>
        </p:txBody>
      </p:sp>
      <p:sp>
        <p:nvSpPr>
          <p:cNvPr id="9" name="Risk card 2"/>
          <p:cNvSpPr/>
          <p:nvPr/>
        </p:nvSpPr>
        <p:spPr>
          <a:xfrm>
            <a:off x="548640" y="3337560"/>
            <a:ext cx="5364328" cy="1234440"/>
          </a:xfrm>
          <a:prstGeom prst="roundRect">
            <a:avLst>
              <a:gd name="adj" fmla="val 7407"/>
            </a:avLst>
          </a:prstGeom>
          <a:solidFill>
            <a:schemeClr val="bg2"/>
          </a:solidFill>
          <a:ln/>
        </p:spPr>
      </p:sp>
      <p:sp>
        <p:nvSpPr>
          <p:cNvPr id="10" name="Risk 2 circle"/>
          <p:cNvSpPr/>
          <p:nvPr/>
        </p:nvSpPr>
        <p:spPr>
          <a:xfrm>
            <a:off x="777240" y="3703320"/>
            <a:ext cx="502920" cy="502920"/>
          </a:xfrm>
          <a:prstGeom prst="ellipse">
            <a:avLst/>
          </a:prstGeom>
          <a:solidFill>
            <a:schemeClr val="accent4"/>
          </a:solidFill>
          <a:ln/>
        </p:spPr>
      </p:sp>
      <p:pic>
        <p:nvPicPr>
          <p:cNvPr id="11" name="Risk 2 icon" descr="Risk 2 icon">    </p:cNvPr>
          <p:cNvPicPr>
            <a:picLocks noChangeAspect="1"/>
          </p:cNvPicPr>
          <p:nvPr/>
        </p:nvPicPr>
        <p:blipFill>
          <a:blip r:embed="rId2"/>
          <a:stretch>
            <a:fillRect/>
          </a:stretch>
        </p:blipFill>
        <p:spPr>
          <a:xfrm>
            <a:off x="907999" y="3834079"/>
            <a:ext cx="241402" cy="241402"/>
          </a:xfrm>
          <a:prstGeom prst="rect">
            <a:avLst/>
          </a:prstGeom>
        </p:spPr>
      </p:pic>
      <p:sp>
        <p:nvSpPr>
          <p:cNvPr id="12" name="Text 8"/>
          <p:cNvSpPr txBox="1"/>
          <p:nvPr/>
        </p:nvSpPr>
        <p:spPr>
          <a:xfrm>
            <a:off x="1508760" y="34747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Too many easy tasks</a:t>
            </a:r>
            <a:endParaRPr lang="en-US" sz="1600" dirty="0"/>
          </a:p>
        </p:txBody>
      </p:sp>
      <p:sp>
        <p:nvSpPr>
          <p:cNvPr id="13" name="Text 9"/>
          <p:cNvSpPr txBox="1"/>
          <p:nvPr/>
        </p:nvSpPr>
        <p:spPr>
          <a:xfrm>
            <a:off x="1508760" y="38404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Four of 14 tasks pass every time, so they cannot show an improvement; some may need to be made harder.</a:t>
            </a:r>
            <a:endParaRPr lang="en-US" sz="1400" dirty="0"/>
          </a:p>
        </p:txBody>
      </p:sp>
      <p:sp>
        <p:nvSpPr>
          <p:cNvPr id="14" name="Risk card 3"/>
          <p:cNvSpPr/>
          <p:nvPr/>
        </p:nvSpPr>
        <p:spPr>
          <a:xfrm>
            <a:off x="548640" y="4709160"/>
            <a:ext cx="5364328" cy="1234440"/>
          </a:xfrm>
          <a:prstGeom prst="roundRect">
            <a:avLst>
              <a:gd name="adj" fmla="val 7407"/>
            </a:avLst>
          </a:prstGeom>
          <a:solidFill>
            <a:schemeClr val="bg2"/>
          </a:solidFill>
          <a:ln/>
        </p:spPr>
      </p:sp>
      <p:sp>
        <p:nvSpPr>
          <p:cNvPr id="15" name="Risk 3 circle"/>
          <p:cNvSpPr/>
          <p:nvPr/>
        </p:nvSpPr>
        <p:spPr>
          <a:xfrm>
            <a:off x="777240" y="5074920"/>
            <a:ext cx="502920" cy="502920"/>
          </a:xfrm>
          <a:prstGeom prst="ellipse">
            <a:avLst/>
          </a:prstGeom>
          <a:solidFill>
            <a:schemeClr val="accent4"/>
          </a:solidFill>
          <a:ln/>
        </p:spPr>
      </p:sp>
      <p:pic>
        <p:nvPicPr>
          <p:cNvPr id="16" name="Risk 3 icon" descr="Risk 3 icon">    </p:cNvPr>
          <p:cNvPicPr>
            <a:picLocks noChangeAspect="1"/>
          </p:cNvPicPr>
          <p:nvPr/>
        </p:nvPicPr>
        <p:blipFill>
          <a:blip r:embed="rId3"/>
          <a:stretch>
            <a:fillRect/>
          </a:stretch>
        </p:blipFill>
        <p:spPr>
          <a:xfrm>
            <a:off x="907999" y="5205679"/>
            <a:ext cx="241402" cy="241402"/>
          </a:xfrm>
          <a:prstGeom prst="rect">
            <a:avLst/>
          </a:prstGeom>
        </p:spPr>
      </p:pic>
      <p:sp>
        <p:nvSpPr>
          <p:cNvPr id="17" name="Text 12"/>
          <p:cNvSpPr txBox="1"/>
          <p:nvPr/>
        </p:nvSpPr>
        <p:spPr>
          <a:xfrm>
            <a:off x="1508760" y="48463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One graphics card</a:t>
            </a:r>
            <a:endParaRPr lang="en-US" sz="1600" dirty="0"/>
          </a:p>
        </p:txBody>
      </p:sp>
      <p:sp>
        <p:nvSpPr>
          <p:cNvPr id="18" name="Text 13"/>
          <p:cNvSpPr txBox="1"/>
          <p:nvPr/>
        </p:nvSpPr>
        <p:spPr>
          <a:xfrm>
            <a:off x="1508760" y="52120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Results hold for this RTX 3080 only; other hardware is out of scope.</a:t>
            </a:r>
            <a:endParaRPr lang="en-US" sz="1400" dirty="0"/>
          </a:p>
        </p:txBody>
      </p:sp>
      <p:sp>
        <p:nvSpPr>
          <p:cNvPr id="19" name="Decisions heading"/>
          <p:cNvSpPr txBox="1"/>
          <p:nvPr/>
        </p:nvSpPr>
        <p:spPr>
          <a:xfrm>
            <a:off x="6278728" y="1463040"/>
            <a:ext cx="5364328"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Decisions needed</a:t>
            </a:r>
            <a:endParaRPr lang="en-US" sz="2200" dirty="0"/>
          </a:p>
        </p:txBody>
      </p:sp>
      <p:sp>
        <p:nvSpPr>
          <p:cNvPr id="20" name="Decision card 1"/>
          <p:cNvSpPr/>
          <p:nvPr/>
        </p:nvSpPr>
        <p:spPr>
          <a:xfrm>
            <a:off x="6278728" y="1965960"/>
            <a:ext cx="5364328" cy="1234440"/>
          </a:xfrm>
          <a:prstGeom prst="roundRect">
            <a:avLst>
              <a:gd name="adj" fmla="val 7407"/>
            </a:avLst>
          </a:prstGeom>
          <a:solidFill>
            <a:schemeClr val="accent1"/>
          </a:solidFill>
          <a:ln/>
        </p:spPr>
      </p:sp>
      <p:sp>
        <p:nvSpPr>
          <p:cNvPr id="21" name="Decision number circle 1"/>
          <p:cNvSpPr/>
          <p:nvPr/>
        </p:nvSpPr>
        <p:spPr>
          <a:xfrm>
            <a:off x="6507328" y="2331720"/>
            <a:ext cx="502920" cy="502920"/>
          </a:xfrm>
          <a:prstGeom prst="ellipse">
            <a:avLst/>
          </a:prstGeom>
          <a:solidFill>
            <a:schemeClr val="tx2"/>
          </a:solidFill>
          <a:ln/>
        </p:spPr>
      </p:sp>
      <p:sp>
        <p:nvSpPr>
          <p:cNvPr id="22" name="Decision number 1"/>
          <p:cNvSpPr txBox="1"/>
          <p:nvPr/>
        </p:nvSpPr>
        <p:spPr>
          <a:xfrm>
            <a:off x="6507328"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23" name="Text 18"/>
          <p:cNvSpPr txBox="1"/>
          <p:nvPr/>
        </p:nvSpPr>
        <p:spPr>
          <a:xfrm>
            <a:off x="7238848" y="21031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Approve overnight GPU time</a:t>
            </a:r>
            <a:endParaRPr lang="en-US" sz="1600" dirty="0"/>
          </a:p>
        </p:txBody>
      </p:sp>
      <p:sp>
        <p:nvSpPr>
          <p:cNvPr id="24" name="Text 19"/>
          <p:cNvSpPr txBox="1"/>
          <p:nvPr/>
        </p:nvSpPr>
        <p:spPr>
          <a:xfrm>
            <a:off x="7238848" y="24688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About 40 hours of unattended runs spread over several nights.</a:t>
            </a:r>
            <a:endParaRPr lang="en-US" sz="1400" dirty="0"/>
          </a:p>
        </p:txBody>
      </p:sp>
      <p:sp>
        <p:nvSpPr>
          <p:cNvPr id="25" name="Decision card 2"/>
          <p:cNvSpPr/>
          <p:nvPr/>
        </p:nvSpPr>
        <p:spPr>
          <a:xfrm>
            <a:off x="6278728" y="3337560"/>
            <a:ext cx="5364328" cy="1234440"/>
          </a:xfrm>
          <a:prstGeom prst="roundRect">
            <a:avLst>
              <a:gd name="adj" fmla="val 7407"/>
            </a:avLst>
          </a:prstGeom>
          <a:solidFill>
            <a:schemeClr val="accent1"/>
          </a:solidFill>
          <a:ln/>
        </p:spPr>
      </p:sp>
      <p:sp>
        <p:nvSpPr>
          <p:cNvPr id="26" name="Decision number circle 2"/>
          <p:cNvSpPr/>
          <p:nvPr/>
        </p:nvSpPr>
        <p:spPr>
          <a:xfrm>
            <a:off x="6507328" y="3703320"/>
            <a:ext cx="502920" cy="502920"/>
          </a:xfrm>
          <a:prstGeom prst="ellipse">
            <a:avLst/>
          </a:prstGeom>
          <a:solidFill>
            <a:schemeClr val="tx2"/>
          </a:solidFill>
          <a:ln/>
        </p:spPr>
      </p:sp>
      <p:sp>
        <p:nvSpPr>
          <p:cNvPr id="27" name="Decision number 2"/>
          <p:cNvSpPr txBox="1"/>
          <p:nvPr/>
        </p:nvSpPr>
        <p:spPr>
          <a:xfrm>
            <a:off x="6507328" y="3703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8" name="Text 23"/>
          <p:cNvSpPr txBox="1"/>
          <p:nvPr/>
        </p:nvSpPr>
        <p:spPr>
          <a:xfrm>
            <a:off x="7238848" y="34747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Settle the sweep scope</a:t>
            </a:r>
            <a:endParaRPr lang="en-US" sz="1600" dirty="0"/>
          </a:p>
        </p:txBody>
      </p:sp>
      <p:sp>
        <p:nvSpPr>
          <p:cNvPr id="29" name="Text 24"/>
          <p:cNvSpPr txBox="1"/>
          <p:nvPr/>
        </p:nvSpPr>
        <p:spPr>
          <a:xfrm>
            <a:off x="7238848" y="38404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If time runs short, drop in this order: second model, flash attention, 8k context.</a:t>
            </a:r>
            <a:endParaRPr lang="en-US" sz="1400" dirty="0"/>
          </a:p>
        </p:txBody>
      </p:sp>
      <p:sp>
        <p:nvSpPr>
          <p:cNvPr id="30" name="Decision card 3"/>
          <p:cNvSpPr/>
          <p:nvPr/>
        </p:nvSpPr>
        <p:spPr>
          <a:xfrm>
            <a:off x="6278728" y="4709160"/>
            <a:ext cx="5364328" cy="1234440"/>
          </a:xfrm>
          <a:prstGeom prst="roundRect">
            <a:avLst>
              <a:gd name="adj" fmla="val 7407"/>
            </a:avLst>
          </a:prstGeom>
          <a:solidFill>
            <a:schemeClr val="accent1"/>
          </a:solidFill>
          <a:ln/>
        </p:spPr>
      </p:sp>
      <p:sp>
        <p:nvSpPr>
          <p:cNvPr id="31" name="Decision number circle 3"/>
          <p:cNvSpPr/>
          <p:nvPr/>
        </p:nvSpPr>
        <p:spPr>
          <a:xfrm>
            <a:off x="6507328" y="5074920"/>
            <a:ext cx="502920" cy="502920"/>
          </a:xfrm>
          <a:prstGeom prst="ellipse">
            <a:avLst/>
          </a:prstGeom>
          <a:solidFill>
            <a:schemeClr val="tx2"/>
          </a:solidFill>
          <a:ln/>
        </p:spPr>
      </p:sp>
      <p:sp>
        <p:nvSpPr>
          <p:cNvPr id="32" name="Decision number 3"/>
          <p:cNvSpPr txBox="1"/>
          <p:nvPr/>
        </p:nvSpPr>
        <p:spPr>
          <a:xfrm>
            <a:off x="6507328" y="5074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33" name="Text 28"/>
          <p:cNvSpPr txBox="1"/>
          <p:nvPr/>
        </p:nvSpPr>
        <p:spPr>
          <a:xfrm>
            <a:off x="7238848" y="4846320"/>
            <a:ext cx="4221328"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Handle the research task</a:t>
            </a:r>
            <a:endParaRPr lang="en-US" sz="1600" dirty="0"/>
          </a:p>
        </p:txBody>
      </p:sp>
      <p:sp>
        <p:nvSpPr>
          <p:cNvPr id="34" name="Text 29"/>
          <p:cNvSpPr txBox="1"/>
          <p:nvPr/>
        </p:nvSpPr>
        <p:spPr>
          <a:xfrm>
            <a:off x="7238848" y="5212080"/>
            <a:ext cx="4221328" cy="6858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It passed only 1 of 10 runs at the baseline memory window and needs a larger one: keep it as a special case?</a:t>
            </a:r>
            <a:endParaRPr lang="en-US" sz="1400" dirty="0"/>
          </a:p>
        </p:txBody>
      </p:sp>
      <p:sp>
        <p:nvSpPr>
          <p:cNvPr id="25" name="Slide Number Placeholder 0"/>
          <p:cNvSpPr>
            <a:spLocks noGrp="1"/>
          </p:cNvSpPr>
          <p:nvPr>
            <p:ph type="sldNum" sz="quarter" idx="4294967295"/>
          </p:nvPr>
        </p:nvSpPr>
        <p:spPr>
          <a:xfrm>
            <a:off x="10911535" y="6419088"/>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gent_opt">
  <a:themeElements>
    <a:clrScheme name="Agent_opt">
      <a:dk1>
        <a:srgbClr val="1B262C"/>
      </a:dk1>
      <a:lt1>
        <a:srgbClr val="FFFFFF"/>
      </a:lt1>
      <a:dk2>
        <a:srgbClr val="22404D"/>
      </a:dk2>
      <a:lt2>
        <a:srgbClr val="EEF2F3"/>
      </a:lt2>
      <a:accent1>
        <a:srgbClr val="F2A33A"/>
      </a:accent1>
      <a:accent2>
        <a:srgbClr val="2FA8A0"/>
      </a:accent2>
      <a:accent3>
        <a:srgbClr val="6C7A89"/>
      </a:accent3>
      <a:accent4>
        <a:srgbClr val="D9534F"/>
      </a:accent4>
      <a:accent5>
        <a:srgbClr val="8FB8C4"/>
      </a:accent5>
      <a:accent6>
        <a:srgbClr val="3B6978"/>
      </a:accent6>
      <a:hlink>
        <a:srgbClr val="2FA8A0"/>
      </a:hlink>
      <a:folHlink>
        <a:srgbClr val="6C7A89"/>
      </a:folHlink>
    </a:clrScheme>
    <a:fontScheme name="Agent_op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Agent_opt - project overview</dc:title>
  <dc:subject>PptxGenJS Presentation</dc:subject>
  <dc:creator>Nikolaus Almassy</dc:creator>
  <cp:lastModifiedBy>Nikolaus Almassy</cp:lastModifiedBy>
  <cp:revision>1</cp:revision>
  <dcterms:created xsi:type="dcterms:W3CDTF">2026-10-21T21:26:54Z</dcterms:created>
  <dcterms:modified xsi:type="dcterms:W3CDTF">2026-10-21T21:26:54Z</dcterms:modified>
</cp:coreProperties>
</file>
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fcea8ac7-e159-59df-6a92-59c7d6457879}">
          <p14:sldIdLst>
            <p14:sldId id="256"/>
            <p14:sldId id="257"/>
            <p14:sldId id="258"/>
          </p14:sldIdLst>
        </p14:section>
        <p14:section name="Method" id="{8291a709-03b0-e9fe-5cca-76ce4d093d4a}">
          <p14:sldIdLst>
            <p14:sldId id="259"/>
            <p14:sldId id="260"/>
          </p14:sldIdLst>
        </p14:section>
        <p14:section name="Status" id="{81b20470-172b-24ae-af9a-a3ba9496cb4b}">
          <p14:sldIdLst>
            <p14:sldId id="261"/>
            <p14:sldId id="262"/>
          </p14:sldIdLst>
        </p14:section>
        <p14:section name="Next" id="{d0632446-1edd-321d-a473-88c0119cf8f5}">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wall-clock time</c:v>
                </c:pt>
              </c:strCache>
            </c:strRef>
          </c:tx>
          <c:spPr>
            <a:solidFill>
              <a:srgbClr val="F2A33A"/>
            </a:solidFill>
            <a:effectLst/>
          </c:spPr>
          <c:invertIfNegative val="0"/>
          <c:dLbls>
            <c:numFmt formatCode="0&quot;%&quot;" sourceLinked="0"/>
            <c:txPr>
              <a:bodyPr/>
              <a:lstStyle/>
              <a:p>
                <a:pPr>
                  <a:defRPr b="1" i="0" strike="noStrike" sz="1400" u="none">
                    <a:solidFill>
                      <a:srgbClr val="1B262C"/>
                    </a:solidFill>
                    <a:latin typeface="+mn-lt"/>
                  </a:defRPr>
                </a:pPr>
              </a:p>
            </c:txPr>
            <c:showLegendKey val="0"/>
            <c:showVal val="1"/>
            <c:showCatName val="0"/>
            <c:showSerName val="0"/>
            <c:showPercent val="0"/>
            <c:showBubbleSize val="0"/>
            <c:showLeaderLines val="0"/>
          </c:dLbls>
          <c:dPt>
            <c:idx val="0"/>
            <c:invertIfNegative val="0"/>
            <c:bubble3D val="0"/>
            <c:spPr>
              <a:solidFill>
                <a:srgbClr val="F2A33A"/>
              </a:solidFill>
              <a:effectLst/>
            </c:spPr>
          </c:dPt>
          <c:dPt>
            <c:idx val="1"/>
            <c:invertIfNegative val="0"/>
            <c:bubble3D val="0"/>
            <c:spPr>
              <a:solidFill>
                <a:srgbClr val="2FA8A0"/>
              </a:solidFill>
              <a:effectLst/>
            </c:spPr>
          </c:dPt>
          <c:dPt>
            <c:idx val="2"/>
            <c:invertIfNegative val="0"/>
            <c:bubble3D val="0"/>
            <c:spPr>
              <a:solidFill>
                <a:srgbClr val="B4BEC6"/>
              </a:solidFill>
              <a:effectLst/>
            </c:spPr>
          </c:dPt>
          <c:cat>
            <c:multiLvlStrRef>
              <c:f>Sheet1!$A$2:$A$4</c:f>
              <c:multiLvlStrCache>
                <c:ptCount val="3"/>
                <c:lvl>
                  <c:pt idx="0">
                    <c:v>Model reads its instructions (prefill)</c:v>
                  </c:pt>
                  <c:pt idx="1">
                    <c:v>Model writes the answer (decode)</c:v>
                  </c:pt>
                  <c:pt idx="2">
                    <c:v>Tools and overhead</c:v>
                  </c:pt>
                </c:lvl>
              </c:multiLvlStrCache>
            </c:multiLvlStrRef>
          </c:cat>
          <c:val>
            <c:numRef>
              <c:f>Sheet1!$B$2:$B$4</c:f>
              <c:numCache>
                <c:formatCode>General</c:formatCode>
                <c:ptCount val="3"/>
                <c:pt idx="0">
                  <c:v>74.8</c:v>
                </c:pt>
                <c:pt idx="1">
                  <c:v>22.6</c:v>
                </c:pt>
                <c:pt idx="2">
                  <c:v>2.6</c:v>
                </c:pt>
              </c:numCache>
            </c:numRef>
          </c:val>
        </c:ser>
        <c:dLbls>
          <c:numFmt formatCode="0&quot;%&quot;" sourceLinked="0"/>
          <c:txPr>
            <a:bodyPr/>
            <a:lstStyle/>
            <a:p>
              <a:pPr>
                <a:defRPr b="1" i="0" strike="noStrike" sz="1400" u="none">
                  <a:solidFill>
                    <a:srgbClr val="1B262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next four use them.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From M4 on we actually collect the data that answers the project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small-sample observations that already change what we would try first: trimming the instructions the agent re-reads is likely to matter more than making answer generation faster. Tool steps are negligible. These are indications from two recorded runs and from the earlier parity pilot; the baseline run will confirm or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measurement campaign starting (M4).</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277</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 of 8</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milestones complete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277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measuring starts</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starting now</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 starts now</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first full measurement run: the whole suite, 10 repeats per task, on the baseline setup. Mostly unattended, a few days.</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first measurements show</a:t>
            </a:r>
            <a:endParaRPr lang="en-US" sz="3400" dirty="0"/>
          </a:p>
        </p:txBody>
      </p:sp>
      <p:sp>
        <p:nvSpPr>
          <p:cNvPr id="3" name="Chart title"/>
          <p:cNvSpPr txBox="1"/>
          <p:nvPr/>
        </p:nvSpPr>
        <p:spPr>
          <a:xfrm>
            <a:off x="548640" y="1463040"/>
            <a:ext cx="603504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Where one run's time goes</a:t>
            </a:r>
            <a:endParaRPr lang="en-US" sz="1800" dirty="0"/>
          </a:p>
        </p:txBody>
      </p:sp>
      <p:graphicFrame>
        <p:nvGraphicFramePr>
          <p:cNvPr id="4" name="Chart 0" descr=""/>
          <p:cNvGraphicFramePr/>
          <p:nvPr/>
        </p:nvGraphicFramePr>
        <p:xfrm>
          <a:off x="548640" y="1874520"/>
          <a:ext cx="6035040" cy="3474720"/>
        </p:xfrm>
        <a:graphic xmlns:a="http://schemas.openxmlformats.org/drawingml/2006/main">
          <a:graphicData uri="http://schemas.openxmlformats.org/drawingml/2006/chart">
            <c:chart xmlns:c="http://schemas.openxmlformats.org/drawingml/2006/chart" r:id="rId1"/>
          </a:graphicData>
        </a:graphic>
      </p:graphicFrame>
      <p:sp>
        <p:nvSpPr>
          <p:cNvPr id="5" name="Chart source"/>
          <p:cNvSpPr txBox="1"/>
          <p:nvPr/>
        </p:nvSpPr>
        <p:spPr>
          <a:xfrm>
            <a:off x="548640" y="5486400"/>
            <a:ext cx="6035040" cy="548640"/>
          </a:xfrm>
          <a:prstGeom prst="rect">
            <a:avLst/>
          </a:prstGeom>
          <a:noFill/>
          <a:ln/>
        </p:spPr>
        <p:txBody>
          <a:bodyPr wrap="square" lIns="0" tIns="0" rIns="0" bIns="0" rtlCol="0" anchor="t"/>
          <a:lstStyle/>
          <a:p>
            <a:pPr indent="0" marL="0">
              <a:buNone/>
            </a:pPr>
            <a:r>
              <a:rPr lang="en-US" sz="1200" dirty="0">
                <a:solidFill>
                  <a:schemeClr val="accent3"/>
                </a:solidFill>
                <a:latin typeface="Calibri" pitchFamily="34" charset="0"/>
                <a:ea typeface="Calibri" pitchFamily="34" charset="-122"/>
                <a:cs typeface="Calibri" pitchFamily="34" charset="-120"/>
              </a:rPr>
              <a:t>Source: two recorded trials on the RTX 3080. An early indication, not yet the 10-run baseline.</a:t>
            </a:r>
            <a:endParaRPr lang="en-US" sz="1200" dirty="0"/>
          </a:p>
        </p:txBody>
      </p:sp>
      <p:sp>
        <p:nvSpPr>
          <p:cNvPr id="6" name="Stat card 1"/>
          <p:cNvSpPr/>
          <p:nvPr/>
        </p:nvSpPr>
        <p:spPr>
          <a:xfrm>
            <a:off x="6949440" y="1508760"/>
            <a:ext cx="4690872" cy="1371600"/>
          </a:xfrm>
          <a:prstGeom prst="roundRect">
            <a:avLst>
              <a:gd name="adj" fmla="val 6667"/>
            </a:avLst>
          </a:prstGeom>
          <a:solidFill>
            <a:schemeClr val="bg2"/>
          </a:solidFill>
          <a:ln/>
        </p:spPr>
      </p:sp>
      <p:sp>
        <p:nvSpPr>
          <p:cNvPr id="7" name="Stat 1"/>
          <p:cNvSpPr txBox="1"/>
          <p:nvPr/>
        </p:nvSpPr>
        <p:spPr>
          <a:xfrm>
            <a:off x="7178040" y="1508760"/>
            <a:ext cx="1371600" cy="1371600"/>
          </a:xfrm>
          <a:prstGeom prst="rect">
            <a:avLst/>
          </a:prstGeom>
          <a:noFill/>
          <a:ln/>
        </p:spPr>
        <p:txBody>
          <a:bodyPr wrap="square" lIns="0" tIns="0" rIns="0" bIns="0" rtlCol="0" anchor="ctr"/>
          <a:lstStyle/>
          <a:p>
            <a:pPr indent="0" marL="0">
              <a:buNone/>
            </a:pPr>
            <a:r>
              <a:rPr lang="en-US" sz="3600" b="1" dirty="0">
                <a:solidFill>
                  <a:schemeClr val="accent6"/>
                </a:solidFill>
                <a:latin typeface="Cambria" pitchFamily="34" charset="0"/>
                <a:ea typeface="Cambria" pitchFamily="34" charset="-122"/>
                <a:cs typeface="Cambria" pitchFamily="34" charset="-120"/>
              </a:rPr>
              <a:t>75%</a:t>
            </a:r>
            <a:endParaRPr lang="en-US" sz="3600" dirty="0"/>
          </a:p>
        </p:txBody>
      </p:sp>
      <p:sp>
        <p:nvSpPr>
          <p:cNvPr id="8" name="Stat text 1"/>
          <p:cNvSpPr txBox="1"/>
          <p:nvPr/>
        </p:nvSpPr>
        <p:spPr>
          <a:xfrm>
            <a:off x="8549640" y="1600200"/>
            <a:ext cx="2926080" cy="11887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of the time is the model reading its instructions before it answers. The first call alone takes about 40 seconds.</a:t>
            </a:r>
            <a:endParaRPr lang="en-US" sz="1400" dirty="0"/>
          </a:p>
        </p:txBody>
      </p:sp>
      <p:sp>
        <p:nvSpPr>
          <p:cNvPr id="9" name="Stat card 2"/>
          <p:cNvSpPr/>
          <p:nvPr/>
        </p:nvSpPr>
        <p:spPr>
          <a:xfrm>
            <a:off x="6949440" y="3063240"/>
            <a:ext cx="4690872" cy="1371600"/>
          </a:xfrm>
          <a:prstGeom prst="roundRect">
            <a:avLst>
              <a:gd name="adj" fmla="val 6667"/>
            </a:avLst>
          </a:prstGeom>
          <a:solidFill>
            <a:schemeClr val="bg2"/>
          </a:solidFill>
          <a:ln/>
        </p:spPr>
      </p:sp>
      <p:sp>
        <p:nvSpPr>
          <p:cNvPr id="10" name="Stat 2"/>
          <p:cNvSpPr txBox="1"/>
          <p:nvPr/>
        </p:nvSpPr>
        <p:spPr>
          <a:xfrm>
            <a:off x="7178040" y="3063240"/>
            <a:ext cx="1371600" cy="1371600"/>
          </a:xfrm>
          <a:prstGeom prst="rect">
            <a:avLst/>
          </a:prstGeom>
          <a:noFill/>
          <a:ln/>
        </p:spPr>
        <p:txBody>
          <a:bodyPr wrap="square" lIns="0" tIns="0" rIns="0" bIns="0" rtlCol="0" anchor="ctr"/>
          <a:lstStyle/>
          <a:p>
            <a:pPr indent="0" marL="0">
              <a:buNone/>
            </a:pPr>
            <a:r>
              <a:rPr lang="en-US" sz="3600" b="1" dirty="0">
                <a:solidFill>
                  <a:schemeClr val="accent6"/>
                </a:solidFill>
                <a:latin typeface="Cambria" pitchFamily="34" charset="0"/>
                <a:ea typeface="Cambria" pitchFamily="34" charset="-122"/>
                <a:cs typeface="Cambria" pitchFamily="34" charset="-120"/>
              </a:rPr>
              <a:t>10%</a:t>
            </a:r>
            <a:endParaRPr lang="en-US" sz="3600" dirty="0"/>
          </a:p>
        </p:txBody>
      </p:sp>
      <p:sp>
        <p:nvSpPr>
          <p:cNvPr id="11" name="Stat text 2"/>
          <p:cNvSpPr txBox="1"/>
          <p:nvPr/>
        </p:nvSpPr>
        <p:spPr>
          <a:xfrm>
            <a:off x="8549640" y="3154680"/>
            <a:ext cx="2926080" cy="11887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is how much of the answering time the GPU is really busy. This card holds only part of the model, so the processor is the bottleneck.</a:t>
            </a:r>
            <a:endParaRPr lang="en-US" sz="1400" dirty="0"/>
          </a:p>
        </p:txBody>
      </p:sp>
      <p:sp>
        <p:nvSpPr>
          <p:cNvPr id="12" name="Stat card 3"/>
          <p:cNvSpPr/>
          <p:nvPr/>
        </p:nvSpPr>
        <p:spPr>
          <a:xfrm>
            <a:off x="6949440" y="4617720"/>
            <a:ext cx="4690872" cy="1371600"/>
          </a:xfrm>
          <a:prstGeom prst="roundRect">
            <a:avLst>
              <a:gd name="adj" fmla="val 6667"/>
            </a:avLst>
          </a:prstGeom>
          <a:solidFill>
            <a:schemeClr val="bg2"/>
          </a:solidFill>
          <a:ln/>
        </p:spPr>
      </p:sp>
      <p:sp>
        <p:nvSpPr>
          <p:cNvPr id="13" name="Stat 3"/>
          <p:cNvSpPr txBox="1"/>
          <p:nvPr/>
        </p:nvSpPr>
        <p:spPr>
          <a:xfrm>
            <a:off x="7178040" y="4617720"/>
            <a:ext cx="1371600" cy="1371600"/>
          </a:xfrm>
          <a:prstGeom prst="rect">
            <a:avLst/>
          </a:prstGeom>
          <a:noFill/>
          <a:ln/>
        </p:spPr>
        <p:txBody>
          <a:bodyPr wrap="square" lIns="0" tIns="0" rIns="0" bIns="0" rtlCol="0" anchor="ctr"/>
          <a:lstStyle/>
          <a:p>
            <a:pPr indent="0" marL="0">
              <a:buNone/>
            </a:pPr>
            <a:r>
              <a:rPr lang="en-US" sz="3600" b="1" dirty="0">
                <a:solidFill>
                  <a:schemeClr val="accent6"/>
                </a:solidFill>
                <a:latin typeface="Cambria" pitchFamily="34" charset="0"/>
                <a:ea typeface="Cambria" pitchFamily="34" charset="-122"/>
                <a:cs typeface="Cambria" pitchFamily="34" charset="-120"/>
              </a:rPr>
              <a:t>40%</a:t>
            </a:r>
            <a:endParaRPr lang="en-US" sz="3600" dirty="0"/>
          </a:p>
        </p:txBody>
      </p:sp>
      <p:sp>
        <p:nvSpPr>
          <p:cNvPr id="14" name="Stat text 3"/>
          <p:cNvSpPr txBox="1"/>
          <p:nvPr/>
        </p:nvSpPr>
        <p:spPr>
          <a:xfrm>
            <a:off x="8549640" y="4709160"/>
            <a:ext cx="2926080" cy="11887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is the true pass rate of two tasks that passed in single runs. Repeating tests matters.</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3 to 4 days, mostly unattended</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take about 6 hours per setup; the full sweep is about 35 to 40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Most tasks pass, so differences can hide; some tasks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needs a larger memory window than the baseline: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2026-10-20T06:42:59Z</dcterms:created>
  <dcterms:modified xsi:type="dcterms:W3CDTF">2026-10-20T06:42:59Z</dcterms:modified>
</cp:coreProperties>
</file>